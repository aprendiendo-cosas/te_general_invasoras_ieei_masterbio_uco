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74" r:id="rId3"/>
    <p:sldId id="273" r:id="rId4"/>
    <p:sldId id="271" r:id="rId5"/>
    <p:sldId id="272" r:id="rId6"/>
    <p:sldId id="259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19"/>
  </p:normalViewPr>
  <p:slideViewPr>
    <p:cSldViewPr snapToGrid="0" showGuides="1">
      <p:cViewPr varScale="1">
        <p:scale>
          <a:sx n="82" d="100"/>
          <a:sy n="82" d="100"/>
        </p:scale>
        <p:origin x="176" y="150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75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7989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8777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1654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734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1400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9161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9389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598979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82278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688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4726C-D58D-A841-983F-491BAAB43C54}" type="datetimeFigureOut">
              <a:rPr lang="en-ES" smtClean="0"/>
              <a:t>19/1/26</a:t>
            </a:fld>
            <a:endParaRPr lang="en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C1D18-AA52-B24C-815A-EBD900542B9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4129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source=web&amp;rct=j&amp;opi=89978449&amp;url=https://www.researchgate.net/profile/Sven-Bacher/publication/342472185_Scientists%2527_warning_on_invasive_alien_species/links/5fa51dcc299bf10f7328b204/Scientists-warning-on-invasive-alien-species.pdf&amp;ved=2ahUKEwiP1eiRgpiSAxUKcKQEHWnbCw4QFnoECBkQAQ&amp;usg=AOvVaw2mEmRf_OWsLKPA9mAd2Jp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oogle.com/url?sa=t&amp;source=web&amp;rct=j&amp;opi=89978449&amp;url=https://www.researchgate.net/profile/Sven-Bacher/publication/342472185_Scientists%2527_warning_on_invasive_alien_species/links/5fa51dcc299bf10f7328b204/Scientists-warning-on-invasive-alien-species.pdf&amp;ved=2ahUKEwiP1eiRgpiSAxUKcKQEHWnbCw4QFnoECBkQAQ&amp;usg=AOvVaw2mEmRf_OWsLKPA9mAd2Jpn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oilP6BixQ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perplexity.ai/search/busca-informacion-cientifica-s-3PVfhL6jTKKLhBy5JrXJog#0" TargetMode="External"/><Relationship Id="rId4" Type="http://schemas.openxmlformats.org/officeDocument/2006/relationships/hyperlink" Target="https://www.moneyweb.co.za/news/south-africa/heres-why-cape-town-is-clearing-invasive-plant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Llr-4IU7d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ature.com/articles/s41586-018-0202-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comandanga.org/2024/02/07/la-hormiga-que-dio-bufalo-por-cebra-a-los-leones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the world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F7CD45F4-3DA0-AF2C-BEBC-316F1EC1A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41" y="145259"/>
            <a:ext cx="9001957" cy="6086644"/>
          </a:xfrm>
          <a:prstGeom prst="rect">
            <a:avLst/>
          </a:prstGeom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4B1F0154-4D38-996F-BBF4-B322D532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672" y="6231903"/>
            <a:ext cx="5904656" cy="28803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1200" dirty="0">
                <a:hlinkClick r:id="rId3"/>
              </a:rPr>
              <a:t>Biological Reviews, Volume 95, Issue: 6, Pages: 1511-1534, June 2020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9306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6E13-7459-F7D8-7025-33C26877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C9D0074D-313D-E6A0-22E0-E59B7F793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886" y="6044263"/>
            <a:ext cx="5904656" cy="288032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1200" dirty="0">
                <a:hlinkClick r:id="rId2"/>
              </a:rPr>
              <a:t>Biological Reviews, Volume 95, Issue: 6, Pages: 1511-1534, June 2020</a:t>
            </a:r>
            <a:endParaRPr lang="en-US" sz="1200" dirty="0"/>
          </a:p>
        </p:txBody>
      </p:sp>
      <p:pic>
        <p:nvPicPr>
          <p:cNvPr id="5" name="Picture 4" descr="A graph of different species&#10;&#10;AI-generated content may be incorrect.">
            <a:extLst>
              <a:ext uri="{FF2B5EF4-FFF2-40B4-BE49-F238E27FC236}">
                <a16:creationId xmlns:a16="http://schemas.microsoft.com/office/drawing/2014/main" id="{6FB9B539-3297-43A6-BCDB-E59E23252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75" y="276034"/>
            <a:ext cx="9486200" cy="569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2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grupo de personas en un parque&#10;&#10;Descripción generada automáticamente">
            <a:extLst>
              <a:ext uri="{FF2B5EF4-FFF2-40B4-BE49-F238E27FC236}">
                <a16:creationId xmlns:a16="http://schemas.microsoft.com/office/drawing/2014/main" id="{5C51619C-53A0-4D2F-683C-97E344107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05" y="1311351"/>
            <a:ext cx="5564796" cy="4290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D181AE-BAE6-E09C-51A6-CEB9ACEF3159}"/>
              </a:ext>
            </a:extLst>
          </p:cNvPr>
          <p:cNvSpPr txBox="1"/>
          <p:nvPr/>
        </p:nvSpPr>
        <p:spPr>
          <a:xfrm>
            <a:off x="898499" y="295688"/>
            <a:ext cx="8383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b="1" dirty="0"/>
              <a:t>Impacto de las invasiones en servicios ecosistémicos básicos: abastecimiento de agua en Ciudad del Cabo (Sudáfrica)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1DCFCF-89DD-6393-3DE3-B52D07BDD5E1}"/>
              </a:ext>
            </a:extLst>
          </p:cNvPr>
          <p:cNvGrpSpPr/>
          <p:nvPr/>
        </p:nvGrpSpPr>
        <p:grpSpPr>
          <a:xfrm>
            <a:off x="1147457" y="5776905"/>
            <a:ext cx="7885492" cy="939295"/>
            <a:chOff x="1147457" y="5776905"/>
            <a:chExt cx="7885492" cy="939295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696DEF5-4E7D-72F0-B527-311BB34A1E8B}"/>
                </a:ext>
              </a:extLst>
            </p:cNvPr>
            <p:cNvSpPr txBox="1"/>
            <p:nvPr/>
          </p:nvSpPr>
          <p:spPr>
            <a:xfrm>
              <a:off x="2409598" y="5776905"/>
              <a:ext cx="53612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400" dirty="0">
                  <a:hlinkClick r:id="rId3"/>
                </a:rPr>
                <a:t>https://</a:t>
              </a:r>
              <a:r>
                <a:rPr lang="es-ES" sz="1400" dirty="0" err="1">
                  <a:hlinkClick r:id="rId3"/>
                </a:rPr>
                <a:t>www.youtube.com</a:t>
              </a:r>
              <a:r>
                <a:rPr lang="es-ES" sz="1400" dirty="0">
                  <a:hlinkClick r:id="rId3"/>
                </a:rPr>
                <a:t>/</a:t>
              </a:r>
              <a:r>
                <a:rPr lang="es-ES" sz="1400" dirty="0" err="1">
                  <a:hlinkClick r:id="rId3"/>
                </a:rPr>
                <a:t>watch?v</a:t>
              </a:r>
              <a:r>
                <a:rPr lang="es-ES" sz="1400" dirty="0">
                  <a:hlinkClick r:id="rId3"/>
                </a:rPr>
                <a:t>=5oilP6BixQ8</a:t>
              </a:r>
              <a:endParaRPr lang="es-ES" sz="14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8C9F448-B7AF-02A6-245D-28DB8E59DEEC}"/>
                </a:ext>
              </a:extLst>
            </p:cNvPr>
            <p:cNvSpPr txBox="1"/>
            <p:nvPr/>
          </p:nvSpPr>
          <p:spPr>
            <a:xfrm>
              <a:off x="1147457" y="6084682"/>
              <a:ext cx="7885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hlinkClick r:id="rId4"/>
                </a:rPr>
                <a:t>https://</a:t>
              </a:r>
              <a:r>
                <a:rPr lang="en-GB" sz="1400" dirty="0" err="1">
                  <a:hlinkClick r:id="rId4"/>
                </a:rPr>
                <a:t>www.moneyweb.co.za</a:t>
              </a:r>
              <a:r>
                <a:rPr lang="en-GB" sz="1400" dirty="0">
                  <a:hlinkClick r:id="rId4"/>
                </a:rPr>
                <a:t>/news/south-</a:t>
              </a:r>
              <a:r>
                <a:rPr lang="en-GB" sz="1400" dirty="0" err="1">
                  <a:hlinkClick r:id="rId4"/>
                </a:rPr>
                <a:t>africa</a:t>
              </a:r>
              <a:r>
                <a:rPr lang="en-GB" sz="1400" dirty="0">
                  <a:hlinkClick r:id="rId4"/>
                </a:rPr>
                <a:t>/</a:t>
              </a:r>
              <a:r>
                <a:rPr lang="en-GB" sz="1400" dirty="0" err="1">
                  <a:hlinkClick r:id="rId4"/>
                </a:rPr>
                <a:t>heres</a:t>
              </a:r>
              <a:r>
                <a:rPr lang="en-GB" sz="1400" dirty="0">
                  <a:hlinkClick r:id="rId4"/>
                </a:rPr>
                <a:t>-why-cape-town-is-clearing-invasive-plants/</a:t>
              </a:r>
              <a:endParaRPr lang="en-ES" sz="14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FEB923-5FBC-4AFA-5EE3-6E18D88CAA54}"/>
                </a:ext>
              </a:extLst>
            </p:cNvPr>
            <p:cNvSpPr txBox="1"/>
            <p:nvPr/>
          </p:nvSpPr>
          <p:spPr>
            <a:xfrm>
              <a:off x="1419262" y="6408423"/>
              <a:ext cx="73418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hlinkClick r:id="rId5"/>
                </a:rPr>
                <a:t>https://</a:t>
              </a:r>
              <a:r>
                <a:rPr lang="en-GB" sz="1400" dirty="0" err="1">
                  <a:hlinkClick r:id="rId5"/>
                </a:rPr>
                <a:t>www.perplexity.ai</a:t>
              </a:r>
              <a:r>
                <a:rPr lang="en-GB" sz="1400" dirty="0">
                  <a:hlinkClick r:id="rId5"/>
                </a:rPr>
                <a:t>/search/busca-informacion-cientifica-s-3PVfhL6jTKKLhBy5JrXJog#0</a:t>
              </a:r>
              <a:endParaRPr lang="en-E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7992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caricatura de una persona&#10;&#10;Descripción generada automáticamente con confianza media">
            <a:extLst>
              <a:ext uri="{FF2B5EF4-FFF2-40B4-BE49-F238E27FC236}">
                <a16:creationId xmlns:a16="http://schemas.microsoft.com/office/drawing/2014/main" id="{DB348EEC-B418-33FC-1846-4FC43E867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09" y="1249773"/>
            <a:ext cx="7772400" cy="420032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75EBB82-5646-EB8B-B994-651407733828}"/>
              </a:ext>
            </a:extLst>
          </p:cNvPr>
          <p:cNvGrpSpPr/>
          <p:nvPr/>
        </p:nvGrpSpPr>
        <p:grpSpPr>
          <a:xfrm>
            <a:off x="2454442" y="5696300"/>
            <a:ext cx="5451749" cy="888271"/>
            <a:chOff x="2454442" y="5696300"/>
            <a:chExt cx="5451749" cy="888271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B0295C6-2273-0EA2-C0C1-F66D67B0EB2A}"/>
                </a:ext>
              </a:extLst>
            </p:cNvPr>
            <p:cNvSpPr txBox="1"/>
            <p:nvPr/>
          </p:nvSpPr>
          <p:spPr>
            <a:xfrm>
              <a:off x="2606596" y="5696300"/>
              <a:ext cx="49518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>
                  <a:hlinkClick r:id="rId3"/>
                </a:rPr>
                <a:t>https://</a:t>
              </a:r>
              <a:r>
                <a:rPr lang="es-ES" dirty="0" err="1">
                  <a:hlinkClick r:id="rId3"/>
                </a:rPr>
                <a:t>www.youtube.com</a:t>
              </a:r>
              <a:r>
                <a:rPr lang="es-ES" dirty="0">
                  <a:hlinkClick r:id="rId3"/>
                </a:rPr>
                <a:t>/</a:t>
              </a:r>
              <a:r>
                <a:rPr lang="es-ES" dirty="0" err="1">
                  <a:hlinkClick r:id="rId3"/>
                </a:rPr>
                <a:t>watch?v</a:t>
              </a:r>
              <a:r>
                <a:rPr lang="es-ES" dirty="0">
                  <a:hlinkClick r:id="rId3"/>
                </a:rPr>
                <a:t>=fLlr-4IU7d4</a:t>
              </a:r>
              <a:endParaRPr lang="es-ES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FA22D1AC-8765-9754-7CDF-E7DA41C8CAE4}"/>
                </a:ext>
              </a:extLst>
            </p:cNvPr>
            <p:cNvSpPr txBox="1"/>
            <p:nvPr/>
          </p:nvSpPr>
          <p:spPr>
            <a:xfrm>
              <a:off x="2454442" y="6215239"/>
              <a:ext cx="5451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hlinkClick r:id="rId4"/>
                </a:rPr>
                <a:t>https://</a:t>
              </a:r>
              <a:r>
                <a:rPr lang="es-ES" dirty="0" err="1">
                  <a:hlinkClick r:id="rId4"/>
                </a:rPr>
                <a:t>www.nature.com</a:t>
              </a:r>
              <a:r>
                <a:rPr lang="es-ES" dirty="0">
                  <a:hlinkClick r:id="rId4"/>
                </a:rPr>
                <a:t>/</a:t>
              </a:r>
              <a:r>
                <a:rPr lang="es-ES" dirty="0" err="1">
                  <a:hlinkClick r:id="rId4"/>
                </a:rPr>
                <a:t>articles</a:t>
              </a:r>
              <a:r>
                <a:rPr lang="es-ES" dirty="0">
                  <a:hlinkClick r:id="rId4"/>
                </a:rPr>
                <a:t>/s41586-018-0202-3</a:t>
              </a:r>
              <a:endParaRPr lang="es-E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2DAADB-D83D-FF50-E97F-0E3D2845ED9E}"/>
              </a:ext>
            </a:extLst>
          </p:cNvPr>
          <p:cNvSpPr txBox="1"/>
          <p:nvPr/>
        </p:nvSpPr>
        <p:spPr>
          <a:xfrm>
            <a:off x="898499" y="295688"/>
            <a:ext cx="8383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b="1" dirty="0"/>
              <a:t>Impacto de las invasiones en los ciclos biogeoquímicos: ratas en las islas Chagos</a:t>
            </a:r>
          </a:p>
        </p:txBody>
      </p:sp>
    </p:spTree>
    <p:extLst>
      <p:ext uri="{BB962C8B-B14F-4D97-AF65-F5344CB8AC3E}">
        <p14:creationId xmlns:p14="http://schemas.microsoft.com/office/powerpoint/2010/main" val="68167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Mapa&#10;&#10;Descripción generada automáticamente">
            <a:extLst>
              <a:ext uri="{FF2B5EF4-FFF2-40B4-BE49-F238E27FC236}">
                <a16:creationId xmlns:a16="http://schemas.microsoft.com/office/drawing/2014/main" id="{310269A0-9EB2-B9DE-8BFE-68583C2C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9" y="1742376"/>
            <a:ext cx="8079722" cy="4165128"/>
          </a:xfrm>
          <a:prstGeom prst="rect">
            <a:avLst/>
          </a:prstGeom>
        </p:spPr>
      </p:pic>
      <p:sp>
        <p:nvSpPr>
          <p:cNvPr id="5" name="CuadroTexto 4">
            <a:hlinkClick r:id="rId3"/>
            <a:extLst>
              <a:ext uri="{FF2B5EF4-FFF2-40B4-BE49-F238E27FC236}">
                <a16:creationId xmlns:a16="http://schemas.microsoft.com/office/drawing/2014/main" id="{3CB2A326-C2A7-FDF7-46E4-7AD0453DA835}"/>
              </a:ext>
            </a:extLst>
          </p:cNvPr>
          <p:cNvSpPr txBox="1"/>
          <p:nvPr/>
        </p:nvSpPr>
        <p:spPr>
          <a:xfrm>
            <a:off x="1144979" y="6164957"/>
            <a:ext cx="82562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hlinkClick r:id="rId3"/>
              </a:rPr>
              <a:t>https://</a:t>
            </a:r>
            <a:r>
              <a:rPr lang="es-ES" sz="1400" dirty="0" err="1">
                <a:hlinkClick r:id="rId3"/>
              </a:rPr>
              <a:t>ecomandanga.org</a:t>
            </a:r>
            <a:r>
              <a:rPr lang="es-ES" sz="1400" dirty="0">
                <a:hlinkClick r:id="rId3"/>
              </a:rPr>
              <a:t>/2024/02/07/la-hormiga-que-dio-</a:t>
            </a:r>
            <a:r>
              <a:rPr lang="es-ES" sz="1400" dirty="0" err="1">
                <a:hlinkClick r:id="rId3"/>
              </a:rPr>
              <a:t>bufalo</a:t>
            </a:r>
            <a:r>
              <a:rPr lang="es-ES" sz="1400" dirty="0">
                <a:hlinkClick r:id="rId3"/>
              </a:rPr>
              <a:t>-por-cebra-a-los-leones/</a:t>
            </a:r>
            <a:endParaRPr lang="es-E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E9E84-686D-4AC0-6A24-5135C598F7CF}"/>
              </a:ext>
            </a:extLst>
          </p:cNvPr>
          <p:cNvSpPr txBox="1"/>
          <p:nvPr/>
        </p:nvSpPr>
        <p:spPr>
          <a:xfrm>
            <a:off x="898499" y="295688"/>
            <a:ext cx="8383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sz="2000" b="1" dirty="0"/>
              <a:t>Impacto de las invasiones en el comportamiento de los depredadores (Sabana africana)</a:t>
            </a:r>
          </a:p>
        </p:txBody>
      </p:sp>
    </p:spTree>
    <p:extLst>
      <p:ext uri="{BB962C8B-B14F-4D97-AF65-F5344CB8AC3E}">
        <p14:creationId xmlns:p14="http://schemas.microsoft.com/office/powerpoint/2010/main" val="303181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FDCCC55-882C-4D25-B55B-A36F014E5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43" y="0"/>
            <a:ext cx="4660409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74CF79C-C75C-194F-BCF9-D49A45D41C74}"/>
              </a:ext>
            </a:extLst>
          </p:cNvPr>
          <p:cNvSpPr txBox="1"/>
          <p:nvPr/>
        </p:nvSpPr>
        <p:spPr>
          <a:xfrm>
            <a:off x="6120152" y="6059723"/>
            <a:ext cx="49570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https://</a:t>
            </a:r>
            <a:r>
              <a:rPr lang="es-ES" sz="1100" dirty="0" err="1"/>
              <a:t>doi.org</a:t>
            </a:r>
            <a:r>
              <a:rPr lang="es-ES" sz="1100" dirty="0"/>
              <a:t>/10.1016/j.tree.2022.08.005</a:t>
            </a:r>
          </a:p>
        </p:txBody>
      </p:sp>
    </p:spTree>
    <p:extLst>
      <p:ext uri="{BB962C8B-B14F-4D97-AF65-F5344CB8AC3E}">
        <p14:creationId xmlns:p14="http://schemas.microsoft.com/office/powerpoint/2010/main" val="542253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168</Words>
  <Application>Microsoft Macintosh PowerPoint</Application>
  <PresentationFormat>A4 Paper (210x297 mm)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1</cp:revision>
  <dcterms:created xsi:type="dcterms:W3CDTF">2026-01-19T16:30:15Z</dcterms:created>
  <dcterms:modified xsi:type="dcterms:W3CDTF">2026-01-19T16:31:12Z</dcterms:modified>
</cp:coreProperties>
</file>