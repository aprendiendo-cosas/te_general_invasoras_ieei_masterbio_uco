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7" r:id="rId2"/>
    <p:sldId id="258" r:id="rId3"/>
    <p:sldId id="268" r:id="rId4"/>
    <p:sldId id="269" r:id="rId5"/>
    <p:sldId id="259" r:id="rId6"/>
    <p:sldId id="260" r:id="rId7"/>
    <p:sldId id="261" r:id="rId8"/>
    <p:sldId id="262" r:id="rId9"/>
    <p:sldId id="263" r:id="rId10"/>
    <p:sldId id="270" r:id="rId11"/>
    <p:sldId id="266" r:id="rId12"/>
    <p:sldId id="265" r:id="rId1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48"/>
    <p:restoredTop sz="95538"/>
  </p:normalViewPr>
  <p:slideViewPr>
    <p:cSldViewPr snapToGrid="0" showGuides="1">
      <p:cViewPr varScale="1">
        <p:scale>
          <a:sx n="103" d="100"/>
          <a:sy n="103" d="100"/>
        </p:scale>
        <p:origin x="1080" y="168"/>
      </p:cViewPr>
      <p:guideLst>
        <p:guide orient="horz" pos="2137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6D6C8-719E-9446-994F-586F59B3E034}" type="datetimeFigureOut">
              <a:rPr lang="en-ES" smtClean="0"/>
              <a:t>1/15/26</a:t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5D430-558A-BF45-B239-F175588A7B80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291316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5D430-558A-BF45-B239-F175588A7B80}" type="slidenum">
              <a:rPr lang="en-ES" smtClean="0"/>
              <a:t>6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671252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14E95-AD82-9C3F-2479-2A2824030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ABBB1-2CD6-C25F-9BE9-57262A786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F27BD-D086-6E5D-966B-4FC3F74F5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F064A-55D0-B9C4-98DE-7FADAB05E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5D430-558A-BF45-B239-F175588A7B80}" type="slidenum">
              <a:rPr lang="en-ES" smtClean="0"/>
              <a:t>7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9329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E25BD-E985-72A3-1914-DB5B657D0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42D6C-9F14-9DF3-2FE7-CCC5230EC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7D6A0-6143-CD5C-514E-DA6FF28AD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52F65-87AA-EAD4-8EBC-CAE3D07E1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5D430-558A-BF45-B239-F175588A7B80}" type="slidenum">
              <a:rPr lang="en-ES" smtClean="0"/>
              <a:t>8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451020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8B48-F4DE-0F4F-BEC1-D01154844AF8}" type="datetimeFigureOut">
              <a:rPr lang="en-ES" smtClean="0"/>
              <a:t>1/15/26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C581-C53A-7F48-B735-8AB8ADDD143A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4185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8B48-F4DE-0F4F-BEC1-D01154844AF8}" type="datetimeFigureOut">
              <a:rPr lang="en-ES" smtClean="0"/>
              <a:t>1/15/26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C581-C53A-7F48-B735-8AB8ADDD143A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34410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8B48-F4DE-0F4F-BEC1-D01154844AF8}" type="datetimeFigureOut">
              <a:rPr lang="en-ES" smtClean="0"/>
              <a:t>1/15/26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C581-C53A-7F48-B735-8AB8ADDD143A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974491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8B48-F4DE-0F4F-BEC1-D01154844AF8}" type="datetimeFigureOut">
              <a:rPr lang="en-ES" smtClean="0"/>
              <a:t>1/15/26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C581-C53A-7F48-B735-8AB8ADDD143A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249284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8B48-F4DE-0F4F-BEC1-D01154844AF8}" type="datetimeFigureOut">
              <a:rPr lang="en-ES" smtClean="0"/>
              <a:t>1/15/26</a:t>
            </a:fld>
            <a:endParaRPr lang="en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C581-C53A-7F48-B735-8AB8ADDD143A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760312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8B48-F4DE-0F4F-BEC1-D01154844AF8}" type="datetimeFigureOut">
              <a:rPr lang="en-ES" smtClean="0"/>
              <a:t>1/15/26</a:t>
            </a:fld>
            <a:endParaRPr lang="en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C581-C53A-7F48-B735-8AB8ADDD143A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2099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8B48-F4DE-0F4F-BEC1-D01154844AF8}" type="datetimeFigureOut">
              <a:rPr lang="en-ES" smtClean="0"/>
              <a:t>1/15/26</a:t>
            </a:fld>
            <a:endParaRPr lang="en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C581-C53A-7F48-B735-8AB8ADDD143A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752324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8B48-F4DE-0F4F-BEC1-D01154844AF8}" type="datetimeFigureOut">
              <a:rPr lang="en-ES" smtClean="0"/>
              <a:t>1/15/26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C581-C53A-7F48-B735-8AB8ADDD143A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16170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8B48-F4DE-0F4F-BEC1-D01154844AF8}" type="datetimeFigureOut">
              <a:rPr lang="en-ES" smtClean="0"/>
              <a:t>1/15/26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C581-C53A-7F48-B735-8AB8ADDD143A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18582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8B48-F4DE-0F4F-BEC1-D01154844AF8}" type="datetimeFigureOut">
              <a:rPr lang="en-ES" smtClean="0"/>
              <a:t>1/15/26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C581-C53A-7F48-B735-8AB8ADDD143A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3064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8B48-F4DE-0F4F-BEC1-D01154844AF8}" type="datetimeFigureOut">
              <a:rPr lang="en-ES" smtClean="0"/>
              <a:t>1/15/26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C581-C53A-7F48-B735-8AB8ADDD143A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522170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768B48-F4DE-0F4F-BEC1-D01154844AF8}" type="datetimeFigureOut">
              <a:rPr lang="en-ES" smtClean="0"/>
              <a:t>1/15/26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5C581-C53A-7F48-B735-8AB8ADDD143A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4108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www.researchgate.net/publication/347803809_Common_Waxbill_Estrilda_astrild_Linnaeus_1758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untadeandalucia.es/medioambiente/contenidoExterno/habitats/278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71002-4586-AEF6-B257-6D44277B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8C162F-0843-BA67-F4AF-0D94D08C2FD6}"/>
              </a:ext>
            </a:extLst>
          </p:cNvPr>
          <p:cNvSpPr txBox="1"/>
          <p:nvPr/>
        </p:nvSpPr>
        <p:spPr>
          <a:xfrm>
            <a:off x="1061756" y="2531060"/>
            <a:ext cx="7472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4000" b="1" dirty="0"/>
              <a:t>Conceptos generales de especies invasoras</a:t>
            </a:r>
          </a:p>
        </p:txBody>
      </p:sp>
    </p:spTree>
    <p:extLst>
      <p:ext uri="{BB962C8B-B14F-4D97-AF65-F5344CB8AC3E}">
        <p14:creationId xmlns:p14="http://schemas.microsoft.com/office/powerpoint/2010/main" val="4063250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C171D-4B7D-16E1-4E97-51ADC3329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3F6C4C-6139-2877-A223-9CD062CD89BE}"/>
              </a:ext>
            </a:extLst>
          </p:cNvPr>
          <p:cNvSpPr txBox="1"/>
          <p:nvPr/>
        </p:nvSpPr>
        <p:spPr>
          <a:xfrm>
            <a:off x="1061756" y="2531060"/>
            <a:ext cx="7472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4000" b="1" dirty="0"/>
              <a:t>¿Qué es una especie invasora?</a:t>
            </a:r>
          </a:p>
        </p:txBody>
      </p:sp>
    </p:spTree>
    <p:extLst>
      <p:ext uri="{BB962C8B-B14F-4D97-AF65-F5344CB8AC3E}">
        <p14:creationId xmlns:p14="http://schemas.microsoft.com/office/powerpoint/2010/main" val="255395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DD6087-631D-1FC7-F72B-BE972CE699B4}"/>
              </a:ext>
            </a:extLst>
          </p:cNvPr>
          <p:cNvSpPr txBox="1"/>
          <p:nvPr/>
        </p:nvSpPr>
        <p:spPr>
          <a:xfrm>
            <a:off x="465992" y="378069"/>
            <a:ext cx="33595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3000" dirty="0"/>
              <a:t>Dinámica en clase: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549AA-6729-13EE-D2B2-9288EB7EAFD0}"/>
              </a:ext>
            </a:extLst>
          </p:cNvPr>
          <p:cNvSpPr txBox="1"/>
          <p:nvPr/>
        </p:nvSpPr>
        <p:spPr>
          <a:xfrm>
            <a:off x="592015" y="1740877"/>
            <a:ext cx="87219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4000" dirty="0"/>
              <a:t>¿Qué características tienen las especies invasoras?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239B28-3065-E4A3-2FA6-D9A31296D3DC}"/>
              </a:ext>
            </a:extLst>
          </p:cNvPr>
          <p:cNvSpPr txBox="1"/>
          <p:nvPr/>
        </p:nvSpPr>
        <p:spPr>
          <a:xfrm>
            <a:off x="1626577" y="3692769"/>
            <a:ext cx="282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ES" dirty="0"/>
              <a:t>Lluvia de ideas en clase</a:t>
            </a:r>
          </a:p>
        </p:txBody>
      </p:sp>
    </p:spTree>
    <p:extLst>
      <p:ext uri="{BB962C8B-B14F-4D97-AF65-F5344CB8AC3E}">
        <p14:creationId xmlns:p14="http://schemas.microsoft.com/office/powerpoint/2010/main" val="389760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E2FF81-DF2C-B4E2-0CDB-BCB0AF7AC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51042" cy="616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39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0032E-06E8-3294-3218-1B7AA0CE0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FD3A5A-721B-61EC-ABA0-88897DB51771}"/>
              </a:ext>
            </a:extLst>
          </p:cNvPr>
          <p:cNvSpPr txBox="1"/>
          <p:nvPr/>
        </p:nvSpPr>
        <p:spPr>
          <a:xfrm>
            <a:off x="1216677" y="327218"/>
            <a:ext cx="7472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800" b="1" dirty="0"/>
              <a:t>Exóticas que no generan problemas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4C78A-C2A5-2FF4-C461-1F61817D1C63}"/>
              </a:ext>
            </a:extLst>
          </p:cNvPr>
          <p:cNvSpPr txBox="1"/>
          <p:nvPr/>
        </p:nvSpPr>
        <p:spPr>
          <a:xfrm>
            <a:off x="705899" y="6229381"/>
            <a:ext cx="899478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ES" sz="1500" dirty="0">
                <a:hlinkClick r:id="rId2"/>
              </a:rPr>
              <a:t>https://www.researchgate.net/publication/347803809_Common_Waxbill_Estrilda_astrild_Linnaeus_1758</a:t>
            </a:r>
            <a:endParaRPr lang="en-ES" sz="15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7FEC70-C245-28D5-1926-29EA752B57B7}"/>
              </a:ext>
            </a:extLst>
          </p:cNvPr>
          <p:cNvGrpSpPr/>
          <p:nvPr/>
        </p:nvGrpSpPr>
        <p:grpSpPr>
          <a:xfrm>
            <a:off x="585258" y="1382084"/>
            <a:ext cx="3337983" cy="3338505"/>
            <a:chOff x="585258" y="1382084"/>
            <a:chExt cx="3337983" cy="3338505"/>
          </a:xfrm>
        </p:grpSpPr>
        <p:pic>
          <p:nvPicPr>
            <p:cNvPr id="4" name="Picture 3" descr="A bird on a branch&#10;&#10;AI-generated content may be incorrect.">
              <a:extLst>
                <a:ext uri="{FF2B5EF4-FFF2-40B4-BE49-F238E27FC236}">
                  <a16:creationId xmlns:a16="http://schemas.microsoft.com/office/drawing/2014/main" id="{9C3FBD18-12AB-E5A1-CBE2-08966DF63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258" y="1382084"/>
              <a:ext cx="3337983" cy="290839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36F617-19F3-D656-0634-3CA49861C4AE}"/>
                </a:ext>
              </a:extLst>
            </p:cNvPr>
            <p:cNvSpPr txBox="1"/>
            <p:nvPr/>
          </p:nvSpPr>
          <p:spPr>
            <a:xfrm>
              <a:off x="1037064" y="4382035"/>
              <a:ext cx="24860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600" i="1" dirty="0"/>
                <a:t>Estrilda astriid. </a:t>
              </a:r>
              <a:r>
                <a:rPr lang="en-ES" sz="1600" dirty="0"/>
                <a:t>Pico coral.</a:t>
              </a:r>
              <a:endParaRPr lang="en-ES" sz="1600" i="1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A59C5E-7005-212B-E63C-0A875B90E5DF}"/>
              </a:ext>
            </a:extLst>
          </p:cNvPr>
          <p:cNvGrpSpPr/>
          <p:nvPr/>
        </p:nvGrpSpPr>
        <p:grpSpPr>
          <a:xfrm>
            <a:off x="4055699" y="1382084"/>
            <a:ext cx="5644985" cy="3338505"/>
            <a:chOff x="4055699" y="1382084"/>
            <a:chExt cx="5644985" cy="3338505"/>
          </a:xfrm>
        </p:grpSpPr>
        <p:pic>
          <p:nvPicPr>
            <p:cNvPr id="6" name="Picture 5" descr="A map of the world&#10;&#10;AI-generated content may be incorrect.">
              <a:extLst>
                <a:ext uri="{FF2B5EF4-FFF2-40B4-BE49-F238E27FC236}">
                  <a16:creationId xmlns:a16="http://schemas.microsoft.com/office/drawing/2014/main" id="{B4BF8EF7-A464-A317-92E2-F7DCAFEAD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03184" y="1382084"/>
              <a:ext cx="5397500" cy="22606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71FBD7-2B03-9665-2C9B-C57FF026EE5B}"/>
                </a:ext>
              </a:extLst>
            </p:cNvPr>
            <p:cNvSpPr txBox="1"/>
            <p:nvPr/>
          </p:nvSpPr>
          <p:spPr>
            <a:xfrm>
              <a:off x="4055699" y="4382035"/>
              <a:ext cx="5334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600" dirty="0"/>
                <a:t>Area de distribución. Verde: original. Rojo: área colonizada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559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E3396-038D-74AB-D327-859610006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90E89B-A953-F1CC-20F8-A47CCB336804}"/>
              </a:ext>
            </a:extLst>
          </p:cNvPr>
          <p:cNvSpPr txBox="1"/>
          <p:nvPr/>
        </p:nvSpPr>
        <p:spPr>
          <a:xfrm>
            <a:off x="906614" y="305454"/>
            <a:ext cx="8484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800" b="1" dirty="0"/>
              <a:t>Exóticas que invadieron y ya no generan problemas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EE42E1D-957D-9FDB-B536-BBD1C412B947}"/>
              </a:ext>
            </a:extLst>
          </p:cNvPr>
          <p:cNvGrpSpPr/>
          <p:nvPr/>
        </p:nvGrpSpPr>
        <p:grpSpPr>
          <a:xfrm>
            <a:off x="515379" y="873283"/>
            <a:ext cx="9185305" cy="5679263"/>
            <a:chOff x="515379" y="873283"/>
            <a:chExt cx="9185305" cy="567926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ACE5B7-7997-B89A-3891-3AF51F5F241F}"/>
                </a:ext>
              </a:extLst>
            </p:cNvPr>
            <p:cNvSpPr txBox="1"/>
            <p:nvPr/>
          </p:nvSpPr>
          <p:spPr>
            <a:xfrm>
              <a:off x="705899" y="6229381"/>
              <a:ext cx="8994785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ES" sz="1500" dirty="0">
                  <a:hlinkClick r:id="rId3"/>
                </a:rPr>
                <a:t>Guía de identificación de los hábitats de interés comunitario en Andalucía. Junta de Andalucía.</a:t>
              </a:r>
              <a:endParaRPr lang="en-ES" sz="15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6E02A99-F6E5-77B4-F04A-AC45FA9A2292}"/>
                </a:ext>
              </a:extLst>
            </p:cNvPr>
            <p:cNvSpPr txBox="1"/>
            <p:nvPr/>
          </p:nvSpPr>
          <p:spPr>
            <a:xfrm>
              <a:off x="1148575" y="5674993"/>
              <a:ext cx="2506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600" i="1" dirty="0"/>
                <a:t>Castanea sativa. </a:t>
              </a:r>
              <a:r>
                <a:rPr lang="en-ES" sz="1600" dirty="0"/>
                <a:t>Castaño.</a:t>
              </a:r>
              <a:endParaRPr lang="en-ES" sz="1600" i="1" dirty="0"/>
            </a:p>
          </p:txBody>
        </p:sp>
        <p:pic>
          <p:nvPicPr>
            <p:cNvPr id="5" name="Picture 4" descr="A tree with yellow flowers&#10;&#10;AI-generated content may be incorrect.">
              <a:extLst>
                <a:ext uri="{FF2B5EF4-FFF2-40B4-BE49-F238E27FC236}">
                  <a16:creationId xmlns:a16="http://schemas.microsoft.com/office/drawing/2014/main" id="{D7F81D3E-625A-6EB4-9D33-B1D9E39BE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5379" y="873283"/>
              <a:ext cx="3569357" cy="4757101"/>
            </a:xfrm>
            <a:prstGeom prst="rect">
              <a:avLst/>
            </a:prstGeom>
          </p:spPr>
        </p:pic>
        <p:pic>
          <p:nvPicPr>
            <p:cNvPr id="13" name="Picture 12" descr="A map of a country&#10;&#10;AI-generated content may be incorrect.">
              <a:extLst>
                <a:ext uri="{FF2B5EF4-FFF2-40B4-BE49-F238E27FC236}">
                  <a16:creationId xmlns:a16="http://schemas.microsoft.com/office/drawing/2014/main" id="{2D042779-79B0-F76D-5CFD-DD2A387B1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7824" y="1235845"/>
              <a:ext cx="5362860" cy="28343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423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051B6-0845-CD6A-CEB6-6A645974C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C8367C-32DA-388B-91B2-6CC32584FC6C}"/>
              </a:ext>
            </a:extLst>
          </p:cNvPr>
          <p:cNvSpPr txBox="1"/>
          <p:nvPr/>
        </p:nvSpPr>
        <p:spPr>
          <a:xfrm>
            <a:off x="205316" y="151517"/>
            <a:ext cx="9700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800" b="1" dirty="0"/>
              <a:t>Especies domesticadas que generan muchos problemas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7DF94E9-8F04-1279-C7DF-166DAE513644}"/>
              </a:ext>
            </a:extLst>
          </p:cNvPr>
          <p:cNvGrpSpPr/>
          <p:nvPr/>
        </p:nvGrpSpPr>
        <p:grpSpPr>
          <a:xfrm>
            <a:off x="383297" y="1138283"/>
            <a:ext cx="9139406" cy="5073804"/>
            <a:chOff x="383297" y="1138283"/>
            <a:chExt cx="9139406" cy="5073804"/>
          </a:xfrm>
        </p:grpSpPr>
        <p:pic>
          <p:nvPicPr>
            <p:cNvPr id="4" name="Picture 3" descr="A group of birds and animals&#10;&#10;AI-generated content may be incorrect.">
              <a:extLst>
                <a:ext uri="{FF2B5EF4-FFF2-40B4-BE49-F238E27FC236}">
                  <a16:creationId xmlns:a16="http://schemas.microsoft.com/office/drawing/2014/main" id="{B05C00C7-349A-3744-0314-E1854F3E9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9725" y="1138283"/>
              <a:ext cx="3577710" cy="3295259"/>
            </a:xfrm>
            <a:prstGeom prst="rect">
              <a:avLst/>
            </a:prstGeom>
          </p:spPr>
        </p:pic>
        <p:pic>
          <p:nvPicPr>
            <p:cNvPr id="7" name="Picture 6" descr="A cat with a feather in its mouth&#10;&#10;AI-generated content may be incorrect.">
              <a:extLst>
                <a:ext uri="{FF2B5EF4-FFF2-40B4-BE49-F238E27FC236}">
                  <a16:creationId xmlns:a16="http://schemas.microsoft.com/office/drawing/2014/main" id="{3EDD448B-729A-657B-FD61-D1D79FA41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5385" y="1138283"/>
              <a:ext cx="3012946" cy="371861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4C0B7E-2CD7-6080-B126-543B14146B51}"/>
                </a:ext>
              </a:extLst>
            </p:cNvPr>
            <p:cNvSpPr txBox="1"/>
            <p:nvPr/>
          </p:nvSpPr>
          <p:spPr>
            <a:xfrm>
              <a:off x="383297" y="5288757"/>
              <a:ext cx="913940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Cada </a:t>
              </a:r>
              <a:r>
                <a:rPr lang="en-GB" dirty="0" err="1"/>
                <a:t>año</a:t>
              </a:r>
              <a:r>
                <a:rPr lang="en-GB" dirty="0"/>
                <a:t>, </a:t>
              </a:r>
              <a:r>
                <a:rPr lang="en-GB" dirty="0" err="1"/>
                <a:t>los</a:t>
              </a:r>
              <a:r>
                <a:rPr lang="en-GB" dirty="0"/>
                <a:t> gatos </a:t>
              </a:r>
              <a:r>
                <a:rPr lang="en-GB" dirty="0" err="1"/>
                <a:t>domésticos</a:t>
              </a:r>
              <a:r>
                <a:rPr lang="en-GB" dirty="0"/>
                <a:t> </a:t>
              </a:r>
              <a:r>
                <a:rPr lang="en-GB" dirty="0" err="1"/>
                <a:t>atacan</a:t>
              </a:r>
              <a:r>
                <a:rPr lang="en-GB" dirty="0"/>
                <a:t> entre 1000 y 4000 </a:t>
              </a:r>
              <a:r>
                <a:rPr lang="en-GB" dirty="0" err="1"/>
                <a:t>millones</a:t>
              </a:r>
              <a:r>
                <a:rPr lang="en-GB" dirty="0"/>
                <a:t> de </a:t>
              </a:r>
              <a:r>
                <a:rPr lang="en-GB" dirty="0" err="1"/>
                <a:t>aves</a:t>
              </a:r>
              <a:r>
                <a:rPr lang="en-GB" dirty="0"/>
                <a:t>, entre 6000 y 22.000 </a:t>
              </a:r>
              <a:r>
                <a:rPr lang="en-GB" dirty="0" err="1"/>
                <a:t>millones</a:t>
              </a:r>
              <a:r>
                <a:rPr lang="en-GB" dirty="0"/>
                <a:t> de </a:t>
              </a:r>
              <a:r>
                <a:rPr lang="en-GB" dirty="0" err="1"/>
                <a:t>pequeños</a:t>
              </a:r>
              <a:r>
                <a:rPr lang="en-GB" dirty="0"/>
                <a:t> </a:t>
              </a:r>
              <a:r>
                <a:rPr lang="en-GB" dirty="0" err="1"/>
                <a:t>mamíferos</a:t>
              </a:r>
              <a:r>
                <a:rPr lang="en-GB" dirty="0"/>
                <a:t> y </a:t>
              </a:r>
              <a:r>
                <a:rPr lang="en-GB" dirty="0" err="1"/>
                <a:t>cientos</a:t>
              </a:r>
              <a:r>
                <a:rPr lang="en-GB" dirty="0"/>
                <a:t> de </a:t>
              </a:r>
              <a:r>
                <a:rPr lang="en-GB" dirty="0" err="1"/>
                <a:t>millones</a:t>
              </a:r>
              <a:r>
                <a:rPr lang="en-GB" dirty="0"/>
                <a:t> de reptiles y </a:t>
              </a:r>
              <a:r>
                <a:rPr lang="en-GB" dirty="0" err="1"/>
                <a:t>anfibios</a:t>
              </a:r>
              <a:r>
                <a:rPr lang="en-GB" dirty="0"/>
                <a:t> </a:t>
              </a:r>
              <a:r>
                <a:rPr lang="en-GB" dirty="0" err="1"/>
                <a:t>en</a:t>
              </a:r>
              <a:r>
                <a:rPr lang="en-GB" dirty="0"/>
                <a:t> </a:t>
              </a:r>
              <a:r>
                <a:rPr lang="en-GB" dirty="0" err="1"/>
                <a:t>los</a:t>
              </a:r>
              <a:r>
                <a:rPr lang="en-GB" dirty="0"/>
                <a:t> </a:t>
              </a:r>
              <a:r>
                <a:rPr lang="en-GB" dirty="0" err="1"/>
                <a:t>Estados</a:t>
              </a:r>
              <a:r>
                <a:rPr lang="en-GB" dirty="0"/>
                <a:t> Unidos.</a:t>
              </a:r>
              <a:endParaRPr lang="en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39363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40FB1-07D4-33C8-12BC-BF054EC86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E680D5-1278-8CC7-8741-6AFA96E1BDF9}"/>
              </a:ext>
            </a:extLst>
          </p:cNvPr>
          <p:cNvSpPr txBox="1"/>
          <p:nvPr/>
        </p:nvSpPr>
        <p:spPr>
          <a:xfrm>
            <a:off x="205316" y="151517"/>
            <a:ext cx="97006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800" b="1" dirty="0"/>
              <a:t>Especies invasoras según el uso del suelo y que “ayudan” a otras que no lo son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3536A0-29B3-D2F4-D153-9FB930F70A18}"/>
              </a:ext>
            </a:extLst>
          </p:cNvPr>
          <p:cNvGrpSpPr/>
          <p:nvPr/>
        </p:nvGrpSpPr>
        <p:grpSpPr>
          <a:xfrm>
            <a:off x="779216" y="1150819"/>
            <a:ext cx="3200104" cy="2787507"/>
            <a:chOff x="383297" y="1406110"/>
            <a:chExt cx="4202723" cy="366085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56FF9A-AA41-E28C-69BD-833A765942C2}"/>
                </a:ext>
              </a:extLst>
            </p:cNvPr>
            <p:cNvSpPr txBox="1"/>
            <p:nvPr/>
          </p:nvSpPr>
          <p:spPr>
            <a:xfrm>
              <a:off x="1023627" y="4682970"/>
              <a:ext cx="2527883" cy="383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300" i="1" dirty="0"/>
                <a:t>Asclepias </a:t>
              </a:r>
              <a:r>
                <a:rPr lang="en-GB" sz="1300" i="1" dirty="0" err="1"/>
                <a:t>curassavica</a:t>
              </a:r>
              <a:endParaRPr lang="en-ES" sz="1300" i="1" dirty="0"/>
            </a:p>
          </p:txBody>
        </p:sp>
        <p:pic>
          <p:nvPicPr>
            <p:cNvPr id="13" name="Picture 12" descr="A close-up of a flower&#10;&#10;AI-generated content may be incorrect.">
              <a:extLst>
                <a:ext uri="{FF2B5EF4-FFF2-40B4-BE49-F238E27FC236}">
                  <a16:creationId xmlns:a16="http://schemas.microsoft.com/office/drawing/2014/main" id="{6ABB3EE0-26A5-49C5-5F6D-9697CB0CF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3297" y="1406110"/>
              <a:ext cx="4202723" cy="316833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D87E5E1-D1F3-D116-770D-5C21C751A6D8}"/>
              </a:ext>
            </a:extLst>
          </p:cNvPr>
          <p:cNvGrpSpPr/>
          <p:nvPr/>
        </p:nvGrpSpPr>
        <p:grpSpPr>
          <a:xfrm>
            <a:off x="5358800" y="1165517"/>
            <a:ext cx="3412778" cy="2770119"/>
            <a:chOff x="4865352" y="1428864"/>
            <a:chExt cx="4482029" cy="3638019"/>
          </a:xfrm>
        </p:grpSpPr>
        <p:pic>
          <p:nvPicPr>
            <p:cNvPr id="15" name="Picture 14" descr="A close-up of a plant&#10;&#10;AI-generated content may be incorrect.">
              <a:extLst>
                <a:ext uri="{FF2B5EF4-FFF2-40B4-BE49-F238E27FC236}">
                  <a16:creationId xmlns:a16="http://schemas.microsoft.com/office/drawing/2014/main" id="{35F0AEBC-FA93-49B8-9E52-1A3C671BD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5352" y="1428864"/>
              <a:ext cx="4482029" cy="316833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6E2B7FE-CEDF-67E0-218A-B2010CC1B389}"/>
                </a:ext>
              </a:extLst>
            </p:cNvPr>
            <p:cNvSpPr txBox="1"/>
            <p:nvPr/>
          </p:nvSpPr>
          <p:spPr>
            <a:xfrm>
              <a:off x="6023679" y="4682973"/>
              <a:ext cx="2817102" cy="383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300" i="1" dirty="0"/>
                <a:t>Asclepias </a:t>
              </a:r>
              <a:r>
                <a:rPr lang="en-GB" sz="1300" i="1" dirty="0" err="1"/>
                <a:t>fruticosa</a:t>
              </a:r>
              <a:endParaRPr lang="en-ES" sz="1300" i="1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45F191-7238-BD5F-10E6-2DDFF5AE44EF}"/>
              </a:ext>
            </a:extLst>
          </p:cNvPr>
          <p:cNvGrpSpPr/>
          <p:nvPr/>
        </p:nvGrpSpPr>
        <p:grpSpPr>
          <a:xfrm>
            <a:off x="562708" y="4029780"/>
            <a:ext cx="3912577" cy="2731560"/>
            <a:chOff x="562708" y="4029780"/>
            <a:chExt cx="3912577" cy="2731560"/>
          </a:xfrm>
        </p:grpSpPr>
        <p:pic>
          <p:nvPicPr>
            <p:cNvPr id="21" name="Picture 20" descr="A butterfly on a flower&#10;&#10;AI-generated content may be incorrect.">
              <a:extLst>
                <a:ext uri="{FF2B5EF4-FFF2-40B4-BE49-F238E27FC236}">
                  <a16:creationId xmlns:a16="http://schemas.microsoft.com/office/drawing/2014/main" id="{7F9F36AA-FEA5-6FAE-2F28-AD2A1E393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2417" y="4029780"/>
              <a:ext cx="3200103" cy="2330029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E214C95-8CA6-E5A6-C163-D7DF6A1435E8}"/>
                </a:ext>
              </a:extLst>
            </p:cNvPr>
            <p:cNvSpPr txBox="1"/>
            <p:nvPr/>
          </p:nvSpPr>
          <p:spPr>
            <a:xfrm>
              <a:off x="562708" y="6468952"/>
              <a:ext cx="3912577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300" i="1" dirty="0"/>
                <a:t>Danaus </a:t>
              </a:r>
              <a:r>
                <a:rPr lang="en-GB" sz="1300" i="1" dirty="0" err="1"/>
                <a:t>plexippus</a:t>
              </a:r>
              <a:r>
                <a:rPr lang="en-GB" sz="1300" i="1" dirty="0"/>
                <a:t> </a:t>
              </a:r>
              <a:r>
                <a:rPr lang="en-GB" sz="1300" dirty="0" err="1"/>
                <a:t>sobre</a:t>
              </a:r>
              <a:r>
                <a:rPr lang="en-GB" sz="1300" dirty="0"/>
                <a:t> </a:t>
              </a:r>
              <a:r>
                <a:rPr lang="en-GB" sz="1300" i="1" dirty="0"/>
                <a:t>Asclepias </a:t>
              </a:r>
              <a:r>
                <a:rPr lang="en-GB" sz="1300" i="1" dirty="0" err="1"/>
                <a:t>curassavica</a:t>
              </a:r>
              <a:endParaRPr lang="en-ES" sz="1300" i="1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E459F89-B30C-E5F5-90E3-212BE625E4D3}"/>
              </a:ext>
            </a:extLst>
          </p:cNvPr>
          <p:cNvGrpSpPr/>
          <p:nvPr/>
        </p:nvGrpSpPr>
        <p:grpSpPr>
          <a:xfrm>
            <a:off x="5375733" y="4029780"/>
            <a:ext cx="3970490" cy="2731560"/>
            <a:chOff x="5375733" y="4029780"/>
            <a:chExt cx="3970490" cy="273156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5263A83-DA87-BD25-A414-13BF5B62E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75733" y="4029780"/>
              <a:ext cx="3421786" cy="2412482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150E04-28E9-3BA3-7C14-96CE8E2989F8}"/>
                </a:ext>
              </a:extLst>
            </p:cNvPr>
            <p:cNvSpPr txBox="1"/>
            <p:nvPr/>
          </p:nvSpPr>
          <p:spPr>
            <a:xfrm>
              <a:off x="5433646" y="6468952"/>
              <a:ext cx="3912577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300" i="1" dirty="0"/>
                <a:t>Danaus </a:t>
              </a:r>
              <a:r>
                <a:rPr lang="en-GB" sz="1300" i="1" dirty="0" err="1"/>
                <a:t>plexippus</a:t>
              </a:r>
              <a:r>
                <a:rPr lang="en-GB" sz="1300" i="1" dirty="0"/>
                <a:t> </a:t>
              </a:r>
              <a:r>
                <a:rPr lang="en-GB" sz="1300" dirty="0" err="1"/>
                <a:t>sobre</a:t>
              </a:r>
              <a:r>
                <a:rPr lang="en-GB" sz="1300" dirty="0"/>
                <a:t> </a:t>
              </a:r>
              <a:r>
                <a:rPr lang="en-GB" sz="1300" i="1" dirty="0"/>
                <a:t>Asclepias </a:t>
              </a:r>
              <a:r>
                <a:rPr lang="en-GB" sz="1300" i="1" dirty="0" err="1"/>
                <a:t>fruticosa</a:t>
              </a:r>
              <a:endParaRPr lang="en-ES" sz="13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66801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2EC2C4-4444-97C5-1551-D6F62E76763F}"/>
              </a:ext>
            </a:extLst>
          </p:cNvPr>
          <p:cNvSpPr txBox="1"/>
          <p:nvPr/>
        </p:nvSpPr>
        <p:spPr>
          <a:xfrm>
            <a:off x="205316" y="151517"/>
            <a:ext cx="97006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2800" b="1" dirty="0"/>
              <a:t>Especies invasoras según el uso del suelo y que “ayudan” a otras que no lo son</a:t>
            </a:r>
          </a:p>
        </p:txBody>
      </p:sp>
      <p:pic>
        <p:nvPicPr>
          <p:cNvPr id="4" name="Picture 3" descr="A couple of white horses grazing in a field&#10;&#10;AI-generated content may be incorrect.">
            <a:extLst>
              <a:ext uri="{FF2B5EF4-FFF2-40B4-BE49-F238E27FC236}">
                <a16:creationId xmlns:a16="http://schemas.microsoft.com/office/drawing/2014/main" id="{0BF66F95-4C87-F954-6A0B-800E42479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5" y="1552510"/>
            <a:ext cx="4044165" cy="2880292"/>
          </a:xfrm>
          <a:prstGeom prst="rect">
            <a:avLst/>
          </a:prstGeom>
        </p:spPr>
      </p:pic>
      <p:pic>
        <p:nvPicPr>
          <p:cNvPr id="6" name="Picture 5" descr="A group of people in a forest&#10;&#10;AI-generated content may be incorrect.">
            <a:extLst>
              <a:ext uri="{FF2B5EF4-FFF2-40B4-BE49-F238E27FC236}">
                <a16:creationId xmlns:a16="http://schemas.microsoft.com/office/drawing/2014/main" id="{8CCD2ADC-548C-90A0-AE87-88F44BA27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152" y="1552509"/>
            <a:ext cx="3773183" cy="28802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5607F6-96C0-C19C-5EF4-DADFCC246ADF}"/>
              </a:ext>
            </a:extLst>
          </p:cNvPr>
          <p:cNvSpPr txBox="1"/>
          <p:nvPr/>
        </p:nvSpPr>
        <p:spPr>
          <a:xfrm>
            <a:off x="1922121" y="4510356"/>
            <a:ext cx="104746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/>
              <a:t>Con ganado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FE7BCB-2BF7-5F1C-1C7D-83C329BC06A0}"/>
              </a:ext>
            </a:extLst>
          </p:cNvPr>
          <p:cNvSpPr txBox="1"/>
          <p:nvPr/>
        </p:nvSpPr>
        <p:spPr>
          <a:xfrm>
            <a:off x="6863398" y="4510356"/>
            <a:ext cx="97533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/>
              <a:t>Sin ganado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798A9-B567-3503-970A-2A60048E0A7A}"/>
              </a:ext>
            </a:extLst>
          </p:cNvPr>
          <p:cNvSpPr txBox="1"/>
          <p:nvPr/>
        </p:nvSpPr>
        <p:spPr>
          <a:xfrm>
            <a:off x="558801" y="5012267"/>
            <a:ext cx="83142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Asclepias</a:t>
            </a:r>
            <a:r>
              <a:rPr lang="en-GB" dirty="0"/>
              <a:t> es </a:t>
            </a:r>
            <a:r>
              <a:rPr lang="en-GB" dirty="0" err="1"/>
              <a:t>invasora</a:t>
            </a:r>
            <a:r>
              <a:rPr lang="en-GB" dirty="0"/>
              <a:t> solo </a:t>
            </a:r>
            <a:r>
              <a:rPr lang="en-GB" dirty="0" err="1"/>
              <a:t>cuando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herbívoros</a:t>
            </a:r>
            <a:r>
              <a:rPr lang="en-GB" dirty="0"/>
              <a:t> </a:t>
            </a:r>
            <a:r>
              <a:rPr lang="en-GB" dirty="0" err="1"/>
              <a:t>domésticos</a:t>
            </a:r>
            <a:r>
              <a:rPr lang="en-GB" dirty="0"/>
              <a:t> </a:t>
            </a:r>
            <a:r>
              <a:rPr lang="en-GB" dirty="0" err="1"/>
              <a:t>limitan</a:t>
            </a:r>
            <a:r>
              <a:rPr lang="en-GB" dirty="0"/>
              <a:t> la </a:t>
            </a:r>
            <a:r>
              <a:rPr lang="en-GB" dirty="0" err="1"/>
              <a:t>competencia</a:t>
            </a:r>
            <a:r>
              <a:rPr lang="en-GB" dirty="0"/>
              <a:t> “local” -&gt; </a:t>
            </a:r>
            <a:r>
              <a:rPr lang="en-GB" dirty="0" err="1"/>
              <a:t>esto</a:t>
            </a:r>
            <a:r>
              <a:rPr lang="en-GB" dirty="0"/>
              <a:t> </a:t>
            </a:r>
            <a:r>
              <a:rPr lang="en-GB" dirty="0" err="1"/>
              <a:t>permite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especímenes</a:t>
            </a:r>
            <a:r>
              <a:rPr lang="en-GB" dirty="0"/>
              <a:t> </a:t>
            </a:r>
            <a:r>
              <a:rPr lang="en-GB" dirty="0" err="1"/>
              <a:t>divagantes</a:t>
            </a:r>
            <a:r>
              <a:rPr lang="en-GB" dirty="0"/>
              <a:t> de </a:t>
            </a:r>
            <a:r>
              <a:rPr lang="en-GB" i="1" dirty="0"/>
              <a:t>Danaus </a:t>
            </a:r>
            <a:r>
              <a:rPr lang="en-GB" i="1" dirty="0" err="1"/>
              <a:t>plexippus</a:t>
            </a:r>
            <a:r>
              <a:rPr lang="en-GB" dirty="0"/>
              <a:t> </a:t>
            </a:r>
            <a:r>
              <a:rPr lang="en-GB" dirty="0" err="1"/>
              <a:t>establezcan</a:t>
            </a:r>
            <a:r>
              <a:rPr lang="en-GB" dirty="0"/>
              <a:t> </a:t>
            </a:r>
            <a:r>
              <a:rPr lang="en-GB" dirty="0" err="1"/>
              <a:t>poblaciones</a:t>
            </a:r>
            <a:r>
              <a:rPr lang="en-GB" dirty="0"/>
              <a:t> </a:t>
            </a:r>
            <a:endParaRPr lang="en-ES" dirty="0"/>
          </a:p>
        </p:txBody>
      </p:sp>
    </p:spTree>
    <p:extLst>
      <p:ext uri="{BB962C8B-B14F-4D97-AF65-F5344CB8AC3E}">
        <p14:creationId xmlns:p14="http://schemas.microsoft.com/office/powerpoint/2010/main" val="7745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5A93-E776-5D8B-313F-52112B54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E43372-E97D-8F4F-389B-46133ACC7D23}"/>
              </a:ext>
            </a:extLst>
          </p:cNvPr>
          <p:cNvSpPr txBox="1"/>
          <p:nvPr/>
        </p:nvSpPr>
        <p:spPr>
          <a:xfrm>
            <a:off x="465992" y="378069"/>
            <a:ext cx="33595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3000" dirty="0"/>
              <a:t>Dinámica en clase: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FA8815-F9A2-B077-7F31-7B20A1211F93}"/>
              </a:ext>
            </a:extLst>
          </p:cNvPr>
          <p:cNvSpPr txBox="1"/>
          <p:nvPr/>
        </p:nvSpPr>
        <p:spPr>
          <a:xfrm>
            <a:off x="592015" y="1740877"/>
            <a:ext cx="87219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4000" dirty="0"/>
              <a:t>¿Qué características tienen las especies invasoras?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C2AD3-429A-C559-0E74-5D353B556721}"/>
              </a:ext>
            </a:extLst>
          </p:cNvPr>
          <p:cNvSpPr txBox="1"/>
          <p:nvPr/>
        </p:nvSpPr>
        <p:spPr>
          <a:xfrm>
            <a:off x="1626577" y="3692769"/>
            <a:ext cx="2263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</a:t>
            </a:r>
            <a:r>
              <a:rPr lang="en-ES" dirty="0"/>
              <a:t>nteracción con IA</a:t>
            </a:r>
          </a:p>
        </p:txBody>
      </p:sp>
    </p:spTree>
    <p:extLst>
      <p:ext uri="{BB962C8B-B14F-4D97-AF65-F5344CB8AC3E}">
        <p14:creationId xmlns:p14="http://schemas.microsoft.com/office/powerpoint/2010/main" val="269923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BCFB38-EDDB-DC79-2CD0-9BFDA976354E}"/>
              </a:ext>
            </a:extLst>
          </p:cNvPr>
          <p:cNvGrpSpPr/>
          <p:nvPr/>
        </p:nvGrpSpPr>
        <p:grpSpPr>
          <a:xfrm>
            <a:off x="0" y="4195839"/>
            <a:ext cx="9906000" cy="2662161"/>
            <a:chOff x="0" y="4195839"/>
            <a:chExt cx="9906000" cy="2662161"/>
          </a:xfrm>
        </p:grpSpPr>
        <p:pic>
          <p:nvPicPr>
            <p:cNvPr id="10" name="Picture 9" descr="A screenshot of a video game&#10;&#10;AI-generated content may be incorrect.">
              <a:extLst>
                <a:ext uri="{FF2B5EF4-FFF2-40B4-BE49-F238E27FC236}">
                  <a16:creationId xmlns:a16="http://schemas.microsoft.com/office/drawing/2014/main" id="{79432F85-C5C4-64A2-4B91-3416F2DFE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3809" b="29316"/>
            <a:stretch/>
          </p:blipFill>
          <p:spPr>
            <a:xfrm>
              <a:off x="0" y="4195839"/>
              <a:ext cx="9906000" cy="266216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B023E0B-113B-B383-A7E3-59328E21A7BE}"/>
                </a:ext>
              </a:extLst>
            </p:cNvPr>
            <p:cNvSpPr txBox="1"/>
            <p:nvPr/>
          </p:nvSpPr>
          <p:spPr>
            <a:xfrm>
              <a:off x="6040504" y="5285797"/>
              <a:ext cx="19600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Territorio invadido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5C6332D-41D8-B8EB-F3E4-C92E3C849671}"/>
              </a:ext>
            </a:extLst>
          </p:cNvPr>
          <p:cNvGrpSpPr/>
          <p:nvPr/>
        </p:nvGrpSpPr>
        <p:grpSpPr>
          <a:xfrm>
            <a:off x="2906274" y="3244895"/>
            <a:ext cx="3134230" cy="2789279"/>
            <a:chOff x="2906274" y="3244895"/>
            <a:chExt cx="3134230" cy="2789279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612DD48-9C6C-6F38-8EB6-6D245BEE7318}"/>
                </a:ext>
              </a:extLst>
            </p:cNvPr>
            <p:cNvSpPr/>
            <p:nvPr/>
          </p:nvSpPr>
          <p:spPr>
            <a:xfrm>
              <a:off x="2906274" y="3552922"/>
              <a:ext cx="2559611" cy="2481252"/>
            </a:xfrm>
            <a:custGeom>
              <a:avLst/>
              <a:gdLst>
                <a:gd name="connsiteX0" fmla="*/ 0 w 2503715"/>
                <a:gd name="connsiteY0" fmla="*/ 21772 h 2471057"/>
                <a:gd name="connsiteX1" fmla="*/ 772886 w 2503715"/>
                <a:gd name="connsiteY1" fmla="*/ 21772 h 2471057"/>
                <a:gd name="connsiteX2" fmla="*/ 892629 w 2503715"/>
                <a:gd name="connsiteY2" fmla="*/ 10886 h 2471057"/>
                <a:gd name="connsiteX3" fmla="*/ 1045029 w 2503715"/>
                <a:gd name="connsiteY3" fmla="*/ 0 h 2471057"/>
                <a:gd name="connsiteX4" fmla="*/ 1992086 w 2503715"/>
                <a:gd name="connsiteY4" fmla="*/ 250372 h 2471057"/>
                <a:gd name="connsiteX5" fmla="*/ 2481943 w 2503715"/>
                <a:gd name="connsiteY5" fmla="*/ 990600 h 2471057"/>
                <a:gd name="connsiteX6" fmla="*/ 2503715 w 2503715"/>
                <a:gd name="connsiteY6" fmla="*/ 2471057 h 2471057"/>
                <a:gd name="connsiteX0" fmla="*/ 0 w 2503715"/>
                <a:gd name="connsiteY0" fmla="*/ 10886 h 2460171"/>
                <a:gd name="connsiteX1" fmla="*/ 772886 w 2503715"/>
                <a:gd name="connsiteY1" fmla="*/ 10886 h 2460171"/>
                <a:gd name="connsiteX2" fmla="*/ 892629 w 2503715"/>
                <a:gd name="connsiteY2" fmla="*/ 0 h 2460171"/>
                <a:gd name="connsiteX3" fmla="*/ 1992086 w 2503715"/>
                <a:gd name="connsiteY3" fmla="*/ 239486 h 2460171"/>
                <a:gd name="connsiteX4" fmla="*/ 2481943 w 2503715"/>
                <a:gd name="connsiteY4" fmla="*/ 979714 h 2460171"/>
                <a:gd name="connsiteX5" fmla="*/ 2503715 w 2503715"/>
                <a:gd name="connsiteY5" fmla="*/ 2460171 h 2460171"/>
                <a:gd name="connsiteX0" fmla="*/ 0 w 2503715"/>
                <a:gd name="connsiteY0" fmla="*/ 10886 h 2460171"/>
                <a:gd name="connsiteX1" fmla="*/ 892629 w 2503715"/>
                <a:gd name="connsiteY1" fmla="*/ 0 h 2460171"/>
                <a:gd name="connsiteX2" fmla="*/ 1992086 w 2503715"/>
                <a:gd name="connsiteY2" fmla="*/ 239486 h 2460171"/>
                <a:gd name="connsiteX3" fmla="*/ 2481943 w 2503715"/>
                <a:gd name="connsiteY3" fmla="*/ 979714 h 2460171"/>
                <a:gd name="connsiteX4" fmla="*/ 2503715 w 2503715"/>
                <a:gd name="connsiteY4" fmla="*/ 2460171 h 2460171"/>
                <a:gd name="connsiteX0" fmla="*/ 0 w 2503715"/>
                <a:gd name="connsiteY0" fmla="*/ 26030 h 2475315"/>
                <a:gd name="connsiteX1" fmla="*/ 892629 w 2503715"/>
                <a:gd name="connsiteY1" fmla="*/ 15144 h 2475315"/>
                <a:gd name="connsiteX2" fmla="*/ 1992086 w 2503715"/>
                <a:gd name="connsiteY2" fmla="*/ 254630 h 2475315"/>
                <a:gd name="connsiteX3" fmla="*/ 2481943 w 2503715"/>
                <a:gd name="connsiteY3" fmla="*/ 994858 h 2475315"/>
                <a:gd name="connsiteX4" fmla="*/ 2503715 w 2503715"/>
                <a:gd name="connsiteY4" fmla="*/ 2475315 h 2475315"/>
                <a:gd name="connsiteX0" fmla="*/ 0 w 2503715"/>
                <a:gd name="connsiteY0" fmla="*/ 26030 h 2475315"/>
                <a:gd name="connsiteX1" fmla="*/ 892629 w 2503715"/>
                <a:gd name="connsiteY1" fmla="*/ 15144 h 2475315"/>
                <a:gd name="connsiteX2" fmla="*/ 1992086 w 2503715"/>
                <a:gd name="connsiteY2" fmla="*/ 254630 h 2475315"/>
                <a:gd name="connsiteX3" fmla="*/ 2481943 w 2503715"/>
                <a:gd name="connsiteY3" fmla="*/ 994858 h 2475315"/>
                <a:gd name="connsiteX4" fmla="*/ 2503715 w 2503715"/>
                <a:gd name="connsiteY4" fmla="*/ 2475315 h 2475315"/>
                <a:gd name="connsiteX0" fmla="*/ 0 w 2558805"/>
                <a:gd name="connsiteY0" fmla="*/ 26030 h 2475315"/>
                <a:gd name="connsiteX1" fmla="*/ 892629 w 2558805"/>
                <a:gd name="connsiteY1" fmla="*/ 15144 h 2475315"/>
                <a:gd name="connsiteX2" fmla="*/ 1992086 w 2558805"/>
                <a:gd name="connsiteY2" fmla="*/ 254630 h 2475315"/>
                <a:gd name="connsiteX3" fmla="*/ 2481943 w 2558805"/>
                <a:gd name="connsiteY3" fmla="*/ 994858 h 2475315"/>
                <a:gd name="connsiteX4" fmla="*/ 2503715 w 2558805"/>
                <a:gd name="connsiteY4" fmla="*/ 2475315 h 2475315"/>
                <a:gd name="connsiteX0" fmla="*/ 0 w 2558805"/>
                <a:gd name="connsiteY0" fmla="*/ 43621 h 2492906"/>
                <a:gd name="connsiteX1" fmla="*/ 888434 w 2558805"/>
                <a:gd name="connsiteY1" fmla="*/ 11763 h 2492906"/>
                <a:gd name="connsiteX2" fmla="*/ 1992086 w 2558805"/>
                <a:gd name="connsiteY2" fmla="*/ 272221 h 2492906"/>
                <a:gd name="connsiteX3" fmla="*/ 2481943 w 2558805"/>
                <a:gd name="connsiteY3" fmla="*/ 1012449 h 2492906"/>
                <a:gd name="connsiteX4" fmla="*/ 2503715 w 2558805"/>
                <a:gd name="connsiteY4" fmla="*/ 2492906 h 2492906"/>
                <a:gd name="connsiteX0" fmla="*/ 0 w 2558805"/>
                <a:gd name="connsiteY0" fmla="*/ 31968 h 2481253"/>
                <a:gd name="connsiteX1" fmla="*/ 888434 w 2558805"/>
                <a:gd name="connsiteY1" fmla="*/ 110 h 2481253"/>
                <a:gd name="connsiteX2" fmla="*/ 1992086 w 2558805"/>
                <a:gd name="connsiteY2" fmla="*/ 260568 h 2481253"/>
                <a:gd name="connsiteX3" fmla="*/ 2481943 w 2558805"/>
                <a:gd name="connsiteY3" fmla="*/ 1000796 h 2481253"/>
                <a:gd name="connsiteX4" fmla="*/ 2503715 w 2558805"/>
                <a:gd name="connsiteY4" fmla="*/ 2481253 h 2481253"/>
                <a:gd name="connsiteX0" fmla="*/ 0 w 2547671"/>
                <a:gd name="connsiteY0" fmla="*/ 31968 h 2481253"/>
                <a:gd name="connsiteX1" fmla="*/ 888434 w 2547671"/>
                <a:gd name="connsiteY1" fmla="*/ 110 h 2481253"/>
                <a:gd name="connsiteX2" fmla="*/ 1992086 w 2547671"/>
                <a:gd name="connsiteY2" fmla="*/ 260568 h 2481253"/>
                <a:gd name="connsiteX3" fmla="*/ 2481943 w 2547671"/>
                <a:gd name="connsiteY3" fmla="*/ 1000796 h 2481253"/>
                <a:gd name="connsiteX4" fmla="*/ 2503715 w 2547671"/>
                <a:gd name="connsiteY4" fmla="*/ 2481253 h 2481253"/>
                <a:gd name="connsiteX0" fmla="*/ 0 w 2569285"/>
                <a:gd name="connsiteY0" fmla="*/ 31967 h 2481252"/>
                <a:gd name="connsiteX1" fmla="*/ 888434 w 2569285"/>
                <a:gd name="connsiteY1" fmla="*/ 109 h 2481252"/>
                <a:gd name="connsiteX2" fmla="*/ 1992086 w 2569285"/>
                <a:gd name="connsiteY2" fmla="*/ 260567 h 2481252"/>
                <a:gd name="connsiteX3" fmla="*/ 2511304 w 2569285"/>
                <a:gd name="connsiteY3" fmla="*/ 992406 h 2481252"/>
                <a:gd name="connsiteX4" fmla="*/ 2503715 w 2569285"/>
                <a:gd name="connsiteY4" fmla="*/ 2481252 h 2481252"/>
                <a:gd name="connsiteX0" fmla="*/ 0 w 2548861"/>
                <a:gd name="connsiteY0" fmla="*/ 31967 h 2481252"/>
                <a:gd name="connsiteX1" fmla="*/ 888434 w 2548861"/>
                <a:gd name="connsiteY1" fmla="*/ 109 h 2481252"/>
                <a:gd name="connsiteX2" fmla="*/ 1992086 w 2548861"/>
                <a:gd name="connsiteY2" fmla="*/ 260567 h 2481252"/>
                <a:gd name="connsiteX3" fmla="*/ 2511304 w 2548861"/>
                <a:gd name="connsiteY3" fmla="*/ 992406 h 2481252"/>
                <a:gd name="connsiteX4" fmla="*/ 2503715 w 2548861"/>
                <a:gd name="connsiteY4" fmla="*/ 2481252 h 2481252"/>
                <a:gd name="connsiteX0" fmla="*/ 0 w 2559611"/>
                <a:gd name="connsiteY0" fmla="*/ 31967 h 2481252"/>
                <a:gd name="connsiteX1" fmla="*/ 888434 w 2559611"/>
                <a:gd name="connsiteY1" fmla="*/ 109 h 2481252"/>
                <a:gd name="connsiteX2" fmla="*/ 1992086 w 2559611"/>
                <a:gd name="connsiteY2" fmla="*/ 260567 h 2481252"/>
                <a:gd name="connsiteX3" fmla="*/ 2511304 w 2559611"/>
                <a:gd name="connsiteY3" fmla="*/ 992406 h 2481252"/>
                <a:gd name="connsiteX4" fmla="*/ 2503715 w 2559611"/>
                <a:gd name="connsiteY4" fmla="*/ 2481252 h 248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9611" h="2481252">
                  <a:moveTo>
                    <a:pt x="0" y="31967"/>
                  </a:moveTo>
                  <a:cubicBezTo>
                    <a:pt x="297543" y="28338"/>
                    <a:pt x="552225" y="3954"/>
                    <a:pt x="888434" y="109"/>
                  </a:cubicBezTo>
                  <a:cubicBezTo>
                    <a:pt x="1224643" y="-3736"/>
                    <a:pt x="1721608" y="95184"/>
                    <a:pt x="1992086" y="260567"/>
                  </a:cubicBezTo>
                  <a:cubicBezTo>
                    <a:pt x="2262564" y="425950"/>
                    <a:pt x="2419324" y="733080"/>
                    <a:pt x="2511304" y="992406"/>
                  </a:cubicBezTo>
                  <a:cubicBezTo>
                    <a:pt x="2603284" y="1251732"/>
                    <a:pt x="2542598" y="1996155"/>
                    <a:pt x="2503715" y="2481252"/>
                  </a:cubicBezTo>
                </a:path>
              </a:pathLst>
            </a:custGeom>
            <a:noFill/>
            <a:ln w="1905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E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A6DCEC-EEDA-7670-1142-5BB0DA3D2E3D}"/>
                </a:ext>
              </a:extLst>
            </p:cNvPr>
            <p:cNvSpPr txBox="1"/>
            <p:nvPr/>
          </p:nvSpPr>
          <p:spPr>
            <a:xfrm>
              <a:off x="3415683" y="3244895"/>
              <a:ext cx="2624821" cy="707886"/>
            </a:xfrm>
            <a:prstGeom prst="rect">
              <a:avLst/>
            </a:prstGeom>
            <a:solidFill>
              <a:srgbClr val="F5F3F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E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INVASIÓN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56975D5-9632-02A8-3DAB-035F37C41B50}"/>
              </a:ext>
            </a:extLst>
          </p:cNvPr>
          <p:cNvGrpSpPr/>
          <p:nvPr/>
        </p:nvGrpSpPr>
        <p:grpSpPr>
          <a:xfrm>
            <a:off x="683581" y="2134223"/>
            <a:ext cx="2050293" cy="2151351"/>
            <a:chOff x="683581" y="2134223"/>
            <a:chExt cx="2050293" cy="2151351"/>
          </a:xfrm>
        </p:grpSpPr>
        <p:pic>
          <p:nvPicPr>
            <p:cNvPr id="5" name="Picture 4" descr="A colorful snail with a shell&#10;&#10;AI-generated content may be incorrect.">
              <a:extLst>
                <a:ext uri="{FF2B5EF4-FFF2-40B4-BE49-F238E27FC236}">
                  <a16:creationId xmlns:a16="http://schemas.microsoft.com/office/drawing/2014/main" id="{5190A6DE-D1AA-B7E8-A7C2-EDE1577D9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767189" y="2318889"/>
              <a:ext cx="1966685" cy="196668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69F9F2-FFC7-74AC-355A-057DE244AE23}"/>
                </a:ext>
              </a:extLst>
            </p:cNvPr>
            <p:cNvSpPr txBox="1"/>
            <p:nvPr/>
          </p:nvSpPr>
          <p:spPr>
            <a:xfrm>
              <a:off x="683581" y="2134223"/>
              <a:ext cx="1860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Especie invasora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489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71002-4586-AEF6-B257-6D44277B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E68A995D-4251-4666-B1D0-2A46161EB2AD}"/>
              </a:ext>
            </a:extLst>
          </p:cNvPr>
          <p:cNvGrpSpPr/>
          <p:nvPr/>
        </p:nvGrpSpPr>
        <p:grpSpPr>
          <a:xfrm>
            <a:off x="2195304" y="1198486"/>
            <a:ext cx="937774" cy="3189303"/>
            <a:chOff x="2195304" y="1198486"/>
            <a:chExt cx="937774" cy="318930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C6013EC-6E25-C386-90E6-3B5A9D5AC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3078" y="1198486"/>
              <a:ext cx="0" cy="3189303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699B71-6B3E-7246-9F25-E067B6C23A46}"/>
                </a:ext>
              </a:extLst>
            </p:cNvPr>
            <p:cNvSpPr txBox="1"/>
            <p:nvPr/>
          </p:nvSpPr>
          <p:spPr>
            <a:xfrm>
              <a:off x="2195304" y="2639249"/>
              <a:ext cx="8177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Tiempo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AD6073C-8B36-D44C-3D01-21887A3F2AE2}"/>
              </a:ext>
            </a:extLst>
          </p:cNvPr>
          <p:cNvGrpSpPr/>
          <p:nvPr/>
        </p:nvGrpSpPr>
        <p:grpSpPr>
          <a:xfrm>
            <a:off x="3133078" y="4387789"/>
            <a:ext cx="4341920" cy="307777"/>
            <a:chOff x="3133078" y="4387789"/>
            <a:chExt cx="4341920" cy="307777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EBBE3709-4A65-ED10-7E14-CC58870396FF}"/>
                </a:ext>
              </a:extLst>
            </p:cNvPr>
            <p:cNvCxnSpPr/>
            <p:nvPr/>
          </p:nvCxnSpPr>
          <p:spPr>
            <a:xfrm>
              <a:off x="3133078" y="4387789"/>
              <a:ext cx="4341920" cy="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2D5E634-4D2D-1B80-40AE-C6BDE09247F0}"/>
                </a:ext>
              </a:extLst>
            </p:cNvPr>
            <p:cNvSpPr txBox="1"/>
            <p:nvPr/>
          </p:nvSpPr>
          <p:spPr>
            <a:xfrm>
              <a:off x="4700536" y="4387789"/>
              <a:ext cx="8707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Espacio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216D898-03ED-FC4A-91E4-82403CC27C30}"/>
              </a:ext>
            </a:extLst>
          </p:cNvPr>
          <p:cNvGrpSpPr/>
          <p:nvPr/>
        </p:nvGrpSpPr>
        <p:grpSpPr>
          <a:xfrm>
            <a:off x="1015847" y="4387789"/>
            <a:ext cx="2117231" cy="2172809"/>
            <a:chOff x="1015847" y="4387789"/>
            <a:chExt cx="2117231" cy="2172809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D71EA11-6EFB-66D5-8DE7-9C6FF3D52C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47" y="4387789"/>
              <a:ext cx="2117231" cy="2172809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CC350A1-C1C7-44EB-CADF-FC68E5AEC0A8}"/>
                </a:ext>
              </a:extLst>
            </p:cNvPr>
            <p:cNvSpPr txBox="1"/>
            <p:nvPr/>
          </p:nvSpPr>
          <p:spPr>
            <a:xfrm rot="18900000">
              <a:off x="1124121" y="5199198"/>
              <a:ext cx="13372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Interacciones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94D218D-7B81-506E-2BAD-A3B155593F3A}"/>
              </a:ext>
            </a:extLst>
          </p:cNvPr>
          <p:cNvSpPr txBox="1"/>
          <p:nvPr/>
        </p:nvSpPr>
        <p:spPr>
          <a:xfrm>
            <a:off x="3145654" y="4387789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Individuo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AC3AAB-A5EA-4E96-854E-9C89F3EF60FC}"/>
              </a:ext>
            </a:extLst>
          </p:cNvPr>
          <p:cNvSpPr txBox="1"/>
          <p:nvPr/>
        </p:nvSpPr>
        <p:spPr>
          <a:xfrm>
            <a:off x="6936419" y="4387789"/>
            <a:ext cx="70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Planeta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713E9B-911B-D370-A48E-660A14C33FE4}"/>
              </a:ext>
            </a:extLst>
          </p:cNvPr>
          <p:cNvSpPr txBox="1"/>
          <p:nvPr/>
        </p:nvSpPr>
        <p:spPr>
          <a:xfrm>
            <a:off x="2299236" y="3937046"/>
            <a:ext cx="593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Horas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FD7A73-696E-3E10-7A96-8D9195FB8293}"/>
              </a:ext>
            </a:extLst>
          </p:cNvPr>
          <p:cNvSpPr txBox="1"/>
          <p:nvPr/>
        </p:nvSpPr>
        <p:spPr>
          <a:xfrm>
            <a:off x="2299236" y="1318133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Eones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3B7664-AF6C-722D-5B80-3454E829FAAF}"/>
              </a:ext>
            </a:extLst>
          </p:cNvPr>
          <p:cNvSpPr txBox="1"/>
          <p:nvPr/>
        </p:nvSpPr>
        <p:spPr>
          <a:xfrm>
            <a:off x="2545947" y="4777645"/>
            <a:ext cx="1257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</a:t>
            </a:r>
            <a:r>
              <a:rPr kumimoji="0" lang="en-ES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aja probabilidad de invasión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232623-7F05-7A4B-A3C3-DC22C85905BE}"/>
              </a:ext>
            </a:extLst>
          </p:cNvPr>
          <p:cNvSpPr txBox="1"/>
          <p:nvPr/>
        </p:nvSpPr>
        <p:spPr>
          <a:xfrm>
            <a:off x="1292269" y="6047540"/>
            <a:ext cx="1257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Alta probabilidad de invasión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A1B09A-377B-9EDD-E314-357401DE1B14}"/>
              </a:ext>
            </a:extLst>
          </p:cNvPr>
          <p:cNvSpPr txBox="1"/>
          <p:nvPr/>
        </p:nvSpPr>
        <p:spPr>
          <a:xfrm>
            <a:off x="3256777" y="3741459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Enfermedad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E3DDDF-D615-7326-E6F2-AF0051608ED1}"/>
              </a:ext>
            </a:extLst>
          </p:cNvPr>
          <p:cNvSpPr txBox="1"/>
          <p:nvPr/>
        </p:nvSpPr>
        <p:spPr>
          <a:xfrm>
            <a:off x="6125402" y="1133466"/>
            <a:ext cx="1697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Migración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Flujo de genes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F8D8D69-3ECB-5CC4-B6A1-8A430C614762}"/>
              </a:ext>
            </a:extLst>
          </p:cNvPr>
          <p:cNvGrpSpPr/>
          <p:nvPr/>
        </p:nvGrpSpPr>
        <p:grpSpPr>
          <a:xfrm rot="10800000">
            <a:off x="-131034" y="3368773"/>
            <a:ext cx="5930283" cy="2534222"/>
            <a:chOff x="7761123" y="2921150"/>
            <a:chExt cx="5930283" cy="25342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1D5BFD1-944F-3605-6F60-CE3AF1071E1C}"/>
                </a:ext>
              </a:extLst>
            </p:cNvPr>
            <p:cNvGrpSpPr/>
            <p:nvPr/>
          </p:nvGrpSpPr>
          <p:grpSpPr>
            <a:xfrm rot="13799609">
              <a:off x="9459154" y="1223119"/>
              <a:ext cx="2534222" cy="5930283"/>
              <a:chOff x="4203892" y="905522"/>
              <a:chExt cx="972667" cy="1345343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3FAE1FA-8F6F-65C0-D50F-7188C5CF7319}"/>
                  </a:ext>
                </a:extLst>
              </p:cNvPr>
              <p:cNvSpPr/>
              <p:nvPr/>
            </p:nvSpPr>
            <p:spPr>
              <a:xfrm>
                <a:off x="4203892" y="1903523"/>
                <a:ext cx="972667" cy="3473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/>
                  </a:gs>
                  <a:gs pos="100000">
                    <a:schemeClr val="bg1"/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E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A7E3FC9A-09C6-02A5-ED7B-170FD4F36019}"/>
                  </a:ext>
                </a:extLst>
              </p:cNvPr>
              <p:cNvGrpSpPr/>
              <p:nvPr/>
            </p:nvGrpSpPr>
            <p:grpSpPr>
              <a:xfrm>
                <a:off x="4270159" y="905522"/>
                <a:ext cx="825625" cy="1215859"/>
                <a:chOff x="4270159" y="905522"/>
                <a:chExt cx="825625" cy="1215859"/>
              </a:xfr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0"/>
              </a:gradFill>
            </p:grpSpPr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AA222C46-5B47-2D5F-1B14-55B916642CC3}"/>
                    </a:ext>
                  </a:extLst>
                </p:cNvPr>
                <p:cNvSpPr/>
                <p:nvPr/>
              </p:nvSpPr>
              <p:spPr>
                <a:xfrm>
                  <a:off x="4270159" y="1774039"/>
                  <a:ext cx="825624" cy="34734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E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Triangle 31">
                  <a:extLst>
                    <a:ext uri="{FF2B5EF4-FFF2-40B4-BE49-F238E27FC236}">
                      <a16:creationId xmlns:a16="http://schemas.microsoft.com/office/drawing/2014/main" id="{07C81358-E458-ECFF-A753-52E10AADDC40}"/>
                    </a:ext>
                  </a:extLst>
                </p:cNvPr>
                <p:cNvSpPr/>
                <p:nvPr/>
              </p:nvSpPr>
              <p:spPr>
                <a:xfrm>
                  <a:off x="4270160" y="905522"/>
                  <a:ext cx="825624" cy="1020932"/>
                </a:xfrm>
                <a:custGeom>
                  <a:avLst/>
                  <a:gdLst>
                    <a:gd name="connsiteX0" fmla="*/ 0 w 2151110"/>
                    <a:gd name="connsiteY0" fmla="*/ 4944444 h 4944444"/>
                    <a:gd name="connsiteX1" fmla="*/ 1075555 w 2151110"/>
                    <a:gd name="connsiteY1" fmla="*/ 0 h 4944444"/>
                    <a:gd name="connsiteX2" fmla="*/ 2151110 w 2151110"/>
                    <a:gd name="connsiteY2" fmla="*/ 4944444 h 4944444"/>
                    <a:gd name="connsiteX3" fmla="*/ 0 w 2151110"/>
                    <a:gd name="connsiteY3" fmla="*/ 4944444 h 4944444"/>
                    <a:gd name="connsiteX0" fmla="*/ 0 w 2151110"/>
                    <a:gd name="connsiteY0" fmla="*/ 4944444 h 4944444"/>
                    <a:gd name="connsiteX1" fmla="*/ 1075555 w 2151110"/>
                    <a:gd name="connsiteY1" fmla="*/ 0 h 4944444"/>
                    <a:gd name="connsiteX2" fmla="*/ 2151110 w 2151110"/>
                    <a:gd name="connsiteY2" fmla="*/ 4944444 h 4944444"/>
                    <a:gd name="connsiteX3" fmla="*/ 1894153 w 2151110"/>
                    <a:gd name="connsiteY3" fmla="*/ 4932056 h 4944444"/>
                    <a:gd name="connsiteX4" fmla="*/ 0 w 2151110"/>
                    <a:gd name="connsiteY4" fmla="*/ 4944444 h 4944444"/>
                    <a:gd name="connsiteX0" fmla="*/ 0 w 2151110"/>
                    <a:gd name="connsiteY0" fmla="*/ 4944444 h 4944444"/>
                    <a:gd name="connsiteX1" fmla="*/ 1075555 w 2151110"/>
                    <a:gd name="connsiteY1" fmla="*/ 0 h 4944444"/>
                    <a:gd name="connsiteX2" fmla="*/ 2151110 w 2151110"/>
                    <a:gd name="connsiteY2" fmla="*/ 4944444 h 4944444"/>
                    <a:gd name="connsiteX3" fmla="*/ 1894153 w 2151110"/>
                    <a:gd name="connsiteY3" fmla="*/ 4932056 h 4944444"/>
                    <a:gd name="connsiteX4" fmla="*/ 388060 w 2151110"/>
                    <a:gd name="connsiteY4" fmla="*/ 4931321 h 4944444"/>
                    <a:gd name="connsiteX5" fmla="*/ 0 w 2151110"/>
                    <a:gd name="connsiteY5" fmla="*/ 4944444 h 4944444"/>
                    <a:gd name="connsiteX0" fmla="*/ 0 w 2151110"/>
                    <a:gd name="connsiteY0" fmla="*/ 4944444 h 4944444"/>
                    <a:gd name="connsiteX1" fmla="*/ 1075555 w 2151110"/>
                    <a:gd name="connsiteY1" fmla="*/ 0 h 4944444"/>
                    <a:gd name="connsiteX2" fmla="*/ 2151110 w 2151110"/>
                    <a:gd name="connsiteY2" fmla="*/ 4944444 h 4944444"/>
                    <a:gd name="connsiteX3" fmla="*/ 1894153 w 2151110"/>
                    <a:gd name="connsiteY3" fmla="*/ 4932056 h 4944444"/>
                    <a:gd name="connsiteX4" fmla="*/ 392797 w 2151110"/>
                    <a:gd name="connsiteY4" fmla="*/ 4552825 h 4944444"/>
                    <a:gd name="connsiteX5" fmla="*/ 0 w 2151110"/>
                    <a:gd name="connsiteY5" fmla="*/ 4944444 h 4944444"/>
                    <a:gd name="connsiteX0" fmla="*/ 0 w 2151110"/>
                    <a:gd name="connsiteY0" fmla="*/ 4944444 h 4944444"/>
                    <a:gd name="connsiteX1" fmla="*/ 1075555 w 2151110"/>
                    <a:gd name="connsiteY1" fmla="*/ 0 h 4944444"/>
                    <a:gd name="connsiteX2" fmla="*/ 2151110 w 2151110"/>
                    <a:gd name="connsiteY2" fmla="*/ 4944444 h 4944444"/>
                    <a:gd name="connsiteX3" fmla="*/ 1663075 w 2151110"/>
                    <a:gd name="connsiteY3" fmla="*/ 4378822 h 4944444"/>
                    <a:gd name="connsiteX4" fmla="*/ 392797 w 2151110"/>
                    <a:gd name="connsiteY4" fmla="*/ 4552825 h 4944444"/>
                    <a:gd name="connsiteX5" fmla="*/ 0 w 2151110"/>
                    <a:gd name="connsiteY5" fmla="*/ 4944444 h 49444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51110" h="4944444">
                      <a:moveTo>
                        <a:pt x="0" y="4944444"/>
                      </a:moveTo>
                      <a:lnTo>
                        <a:pt x="1075555" y="0"/>
                      </a:lnTo>
                      <a:lnTo>
                        <a:pt x="2151110" y="4944444"/>
                      </a:lnTo>
                      <a:lnTo>
                        <a:pt x="1663075" y="4378822"/>
                      </a:lnTo>
                      <a:lnTo>
                        <a:pt x="392797" y="4552825"/>
                      </a:lnTo>
                      <a:lnTo>
                        <a:pt x="0" y="49444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E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AE504E3-108E-2970-3F8D-9A7AE59D18F8}"/>
                </a:ext>
              </a:extLst>
            </p:cNvPr>
            <p:cNvSpPr txBox="1"/>
            <p:nvPr/>
          </p:nvSpPr>
          <p:spPr>
            <a:xfrm rot="8364741">
              <a:off x="9305132" y="3714938"/>
              <a:ext cx="334463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ES" sz="3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Invasión biológica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8CCF17B-9BCB-9766-C16C-461C229135D9}"/>
              </a:ext>
            </a:extLst>
          </p:cNvPr>
          <p:cNvGrpSpPr/>
          <p:nvPr/>
        </p:nvGrpSpPr>
        <p:grpSpPr>
          <a:xfrm>
            <a:off x="4330862" y="2321517"/>
            <a:ext cx="1275831" cy="1192850"/>
            <a:chOff x="4151770" y="2128756"/>
            <a:chExt cx="1641039" cy="1534305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0D50719-291C-A8C8-96B0-987C5C6C0E84}"/>
                </a:ext>
              </a:extLst>
            </p:cNvPr>
            <p:cNvSpPr/>
            <p:nvPr/>
          </p:nvSpPr>
          <p:spPr>
            <a:xfrm rot="13799609">
              <a:off x="4205138" y="2130366"/>
              <a:ext cx="1534305" cy="1531086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4354672-B7F3-63BF-B7FF-B74B33DD327C}"/>
                </a:ext>
              </a:extLst>
            </p:cNvPr>
            <p:cNvSpPr txBox="1"/>
            <p:nvPr/>
          </p:nvSpPr>
          <p:spPr>
            <a:xfrm>
              <a:off x="4151770" y="2501821"/>
              <a:ext cx="16410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E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Invasión biológica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750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0" grpId="0"/>
      <p:bldP spid="21" grpId="0"/>
      <p:bldP spid="25" grpId="0"/>
      <p:bldP spid="26" grpId="0"/>
      <p:bldP spid="23" grpId="0"/>
      <p:bldP spid="24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8795</TotalTime>
  <Words>275</Words>
  <Application>Microsoft Macintosh PowerPoint</Application>
  <PresentationFormat>A4 (210 x 297 mm)</PresentationFormat>
  <Paragraphs>46</Paragraphs>
  <Slides>12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Javier Bonet García</dc:creator>
  <cp:lastModifiedBy>Francisco Javier Bonet García</cp:lastModifiedBy>
  <cp:revision>19</cp:revision>
  <dcterms:created xsi:type="dcterms:W3CDTF">2025-01-13T07:35:37Z</dcterms:created>
  <dcterms:modified xsi:type="dcterms:W3CDTF">2026-01-17T23:03:29Z</dcterms:modified>
</cp:coreProperties>
</file>