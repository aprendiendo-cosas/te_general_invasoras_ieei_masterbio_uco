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66" r:id="rId4"/>
    <p:sldId id="267" r:id="rId5"/>
    <p:sldId id="268" r:id="rId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7F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701"/>
    <p:restoredTop sz="94692"/>
  </p:normalViewPr>
  <p:slideViewPr>
    <p:cSldViewPr snapToGrid="0">
      <p:cViewPr varScale="1">
        <p:scale>
          <a:sx n="77" d="100"/>
          <a:sy n="77" d="100"/>
        </p:scale>
        <p:origin x="184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co Javier Bonet García" userId="c67cd2f5-7354-47bd-a51e-00312a09adde" providerId="ADAL" clId="{1F015F94-8F85-5149-A5E5-E73B4266FF0F}"/>
    <pc:docChg chg="modSld">
      <pc:chgData name="Francisco Javier Bonet García" userId="c67cd2f5-7354-47bd-a51e-00312a09adde" providerId="ADAL" clId="{1F015F94-8F85-5149-A5E5-E73B4266FF0F}" dt="2025-04-14T19:04:23.442" v="7" actId="1036"/>
      <pc:docMkLst>
        <pc:docMk/>
      </pc:docMkLst>
      <pc:sldChg chg="modSp mod">
        <pc:chgData name="Francisco Javier Bonet García" userId="c67cd2f5-7354-47bd-a51e-00312a09adde" providerId="ADAL" clId="{1F015F94-8F85-5149-A5E5-E73B4266FF0F}" dt="2025-04-14T19:04:23.442" v="7" actId="1036"/>
        <pc:sldMkLst>
          <pc:docMk/>
          <pc:sldMk cId="2461063785" sldId="257"/>
        </pc:sldMkLst>
        <pc:spChg chg="mod">
          <ac:chgData name="Francisco Javier Bonet García" userId="c67cd2f5-7354-47bd-a51e-00312a09adde" providerId="ADAL" clId="{1F015F94-8F85-5149-A5E5-E73B4266FF0F}" dt="2025-04-14T19:04:23.442" v="7" actId="1036"/>
          <ac:spMkLst>
            <pc:docMk/>
            <pc:sldMk cId="2461063785" sldId="257"/>
            <ac:spMk id="5" creationId="{E2C4804A-460E-4EB6-AC3F-148C480531B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20/1/26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0129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20/1/26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3220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20/1/26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2953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20/1/26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9987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20/1/26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3281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20/1/26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3138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20/1/26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68350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20/1/26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9053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20/1/26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128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20/1/26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4702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20/1/26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7513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EE7727-541D-0A41-A3A6-75CC084A351C}" type="datetimeFigureOut">
              <a:rPr lang="es-ES" smtClean="0"/>
              <a:t>20/1/26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FB19B3-EF3F-6241-85E8-56F1CA86FED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1960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.co/LKN4yh04Qh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2878346-4A9B-0642-9D7A-B2870AD44C3C}"/>
              </a:ext>
            </a:extLst>
          </p:cNvPr>
          <p:cNvSpPr txBox="1"/>
          <p:nvPr/>
        </p:nvSpPr>
        <p:spPr>
          <a:xfrm>
            <a:off x="2575836" y="6190734"/>
            <a:ext cx="4953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500" dirty="0"/>
              <a:t>Blackburn et al. 2011. TREE 26(7): 333-339</a:t>
            </a:r>
          </a:p>
        </p:txBody>
      </p:sp>
      <p:pic>
        <p:nvPicPr>
          <p:cNvPr id="10" name="Imagen 9" descr="Imagen que contiene Diagrama&#10;&#10;Descripción generada automáticamente">
            <a:extLst>
              <a:ext uri="{FF2B5EF4-FFF2-40B4-BE49-F238E27FC236}">
                <a16:creationId xmlns:a16="http://schemas.microsoft.com/office/drawing/2014/main" id="{956D036A-39F6-1676-7481-D4CDA60621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30" t="4889" r="9967" b="3551"/>
          <a:stretch/>
        </p:blipFill>
        <p:spPr>
          <a:xfrm>
            <a:off x="0" y="520700"/>
            <a:ext cx="9906000" cy="5611374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AC032D15-D300-5C4D-37C7-7961ED639ACD}"/>
              </a:ext>
            </a:extLst>
          </p:cNvPr>
          <p:cNvSpPr txBox="1"/>
          <p:nvPr/>
        </p:nvSpPr>
        <p:spPr>
          <a:xfrm>
            <a:off x="108281" y="4475747"/>
            <a:ext cx="1275347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Especies que no salen de su área de distribución natural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86F6AC7-823F-AE20-1E6F-B2F81C2BEF11}"/>
              </a:ext>
            </a:extLst>
          </p:cNvPr>
          <p:cNvSpPr txBox="1"/>
          <p:nvPr/>
        </p:nvSpPr>
        <p:spPr>
          <a:xfrm>
            <a:off x="2446418" y="3148284"/>
            <a:ext cx="1275347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Especies que salen de su área y son liberadas en el medio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3CB35E2-6978-0596-8A0E-62740C5E3B8B}"/>
              </a:ext>
            </a:extLst>
          </p:cNvPr>
          <p:cNvGrpSpPr/>
          <p:nvPr/>
        </p:nvGrpSpPr>
        <p:grpSpPr>
          <a:xfrm>
            <a:off x="3898232" y="3304693"/>
            <a:ext cx="1471863" cy="1086833"/>
            <a:chOff x="3898232" y="3304693"/>
            <a:chExt cx="1471863" cy="1086833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A74F932F-67A2-E223-2ACA-2E744D8EE6A8}"/>
                </a:ext>
              </a:extLst>
            </p:cNvPr>
            <p:cNvSpPr txBox="1"/>
            <p:nvPr/>
          </p:nvSpPr>
          <p:spPr>
            <a:xfrm>
              <a:off x="4094748" y="3304693"/>
              <a:ext cx="1275347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200" dirty="0"/>
                <a:t>Especies liberadas en el medio pero no sobreviven</a:t>
              </a:r>
            </a:p>
          </p:txBody>
        </p:sp>
        <p:cxnSp>
          <p:nvCxnSpPr>
            <p:cNvPr id="16" name="Conector recto de flecha 15">
              <a:extLst>
                <a:ext uri="{FF2B5EF4-FFF2-40B4-BE49-F238E27FC236}">
                  <a16:creationId xmlns:a16="http://schemas.microsoft.com/office/drawing/2014/main" id="{E593FCED-2AF4-4F4F-B0F4-6582B3183CB9}"/>
                </a:ext>
              </a:extLst>
            </p:cNvPr>
            <p:cNvCxnSpPr/>
            <p:nvPr/>
          </p:nvCxnSpPr>
          <p:spPr>
            <a:xfrm flipH="1">
              <a:off x="3898232" y="4135690"/>
              <a:ext cx="196516" cy="2558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1C2F0EB3-810B-D0E9-7FB0-52D67EC4A02A}"/>
              </a:ext>
            </a:extLst>
          </p:cNvPr>
          <p:cNvGrpSpPr/>
          <p:nvPr/>
        </p:nvGrpSpPr>
        <p:grpSpPr>
          <a:xfrm>
            <a:off x="5273336" y="3048857"/>
            <a:ext cx="1873188" cy="1342669"/>
            <a:chOff x="3643058" y="3304693"/>
            <a:chExt cx="1873188" cy="1342669"/>
          </a:xfrm>
        </p:grpSpPr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83F52881-A6D4-C285-DBF0-41360BC59019}"/>
                </a:ext>
              </a:extLst>
            </p:cNvPr>
            <p:cNvSpPr txBox="1"/>
            <p:nvPr/>
          </p:nvSpPr>
          <p:spPr>
            <a:xfrm>
              <a:off x="4094748" y="3304693"/>
              <a:ext cx="1421498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200" dirty="0"/>
                <a:t>Especies liberadas que sobreviven pero no se reproducen</a:t>
              </a:r>
            </a:p>
          </p:txBody>
        </p: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E3C5A1AE-A5D7-E2A6-5406-3B2B605653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3058" y="4135690"/>
              <a:ext cx="451690" cy="5116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CuadroTexto 23">
            <a:extLst>
              <a:ext uri="{FF2B5EF4-FFF2-40B4-BE49-F238E27FC236}">
                <a16:creationId xmlns:a16="http://schemas.microsoft.com/office/drawing/2014/main" id="{4F7996C1-B621-E9CC-C0C6-99695E28BF95}"/>
              </a:ext>
            </a:extLst>
          </p:cNvPr>
          <p:cNvSpPr txBox="1"/>
          <p:nvPr/>
        </p:nvSpPr>
        <p:spPr>
          <a:xfrm>
            <a:off x="5745368" y="4548467"/>
            <a:ext cx="127534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Se reproducen y la población se </a:t>
            </a:r>
            <a:r>
              <a:rPr lang="es-ES" sz="1200" dirty="0" err="1"/>
              <a:t>automantiene</a:t>
            </a:r>
            <a:endParaRPr lang="es-ES" sz="1200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A8A106FF-CBED-58EC-262C-2D79C6740989}"/>
              </a:ext>
            </a:extLst>
          </p:cNvPr>
          <p:cNvSpPr txBox="1"/>
          <p:nvPr/>
        </p:nvSpPr>
        <p:spPr>
          <a:xfrm>
            <a:off x="7250914" y="3404845"/>
            <a:ext cx="1275347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Hay reproducción y la población se </a:t>
            </a:r>
            <a:r>
              <a:rPr lang="es-ES" sz="1200" dirty="0" err="1"/>
              <a:t>automantiene</a:t>
            </a:r>
            <a:endParaRPr lang="es-ES" sz="1200" dirty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99DA3D37-5F43-1E49-EFCF-7DD771772B8F}"/>
              </a:ext>
            </a:extLst>
          </p:cNvPr>
          <p:cNvSpPr/>
          <p:nvPr/>
        </p:nvSpPr>
        <p:spPr>
          <a:xfrm>
            <a:off x="108281" y="337351"/>
            <a:ext cx="9088985" cy="1162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B145BA04-FA3F-4199-ED47-38252EF6A6DF}"/>
              </a:ext>
            </a:extLst>
          </p:cNvPr>
          <p:cNvSpPr/>
          <p:nvPr/>
        </p:nvSpPr>
        <p:spPr>
          <a:xfrm>
            <a:off x="108281" y="1505271"/>
            <a:ext cx="9088985" cy="786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B34F74D-7497-8C52-4B95-E69C7993ADCD}"/>
              </a:ext>
            </a:extLst>
          </p:cNvPr>
          <p:cNvSpPr txBox="1"/>
          <p:nvPr/>
        </p:nvSpPr>
        <p:spPr>
          <a:xfrm>
            <a:off x="415382" y="1749431"/>
            <a:ext cx="661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017F38"/>
                </a:solidFill>
              </a:rPr>
              <a:t>Fase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1C31C13A-25EA-9531-A9BE-A24C60C6BE41}"/>
              </a:ext>
            </a:extLst>
          </p:cNvPr>
          <p:cNvSpPr txBox="1"/>
          <p:nvPr/>
        </p:nvSpPr>
        <p:spPr>
          <a:xfrm>
            <a:off x="1354359" y="1882597"/>
            <a:ext cx="10103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>
                <a:solidFill>
                  <a:srgbClr val="017F38"/>
                </a:solidFill>
              </a:rPr>
              <a:t>Transporte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E215CC7A-43DC-CA0A-7E75-DF5193DAD115}"/>
              </a:ext>
            </a:extLst>
          </p:cNvPr>
          <p:cNvSpPr txBox="1"/>
          <p:nvPr/>
        </p:nvSpPr>
        <p:spPr>
          <a:xfrm>
            <a:off x="2561722" y="1882597"/>
            <a:ext cx="11776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>
                <a:solidFill>
                  <a:srgbClr val="017F38"/>
                </a:solidFill>
              </a:rPr>
              <a:t>Introducción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34E4CFA6-D9FC-2378-BC5A-F226C3ADD2ED}"/>
              </a:ext>
            </a:extLst>
          </p:cNvPr>
          <p:cNvSpPr txBox="1"/>
          <p:nvPr/>
        </p:nvSpPr>
        <p:spPr>
          <a:xfrm>
            <a:off x="4346132" y="1882597"/>
            <a:ext cx="1450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>
                <a:solidFill>
                  <a:srgbClr val="017F38"/>
                </a:solidFill>
              </a:rPr>
              <a:t>Establecimiento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DC2895C-10D1-9A09-0807-9BDD656FE7D5}"/>
              </a:ext>
            </a:extLst>
          </p:cNvPr>
          <p:cNvSpPr txBox="1"/>
          <p:nvPr/>
        </p:nvSpPr>
        <p:spPr>
          <a:xfrm>
            <a:off x="6944995" y="1882597"/>
            <a:ext cx="9435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>
                <a:solidFill>
                  <a:srgbClr val="017F38"/>
                </a:solidFill>
              </a:rPr>
              <a:t>Extensión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6AC8EF4B-96A5-979C-60D1-157210F92109}"/>
              </a:ext>
            </a:extLst>
          </p:cNvPr>
          <p:cNvSpPr/>
          <p:nvPr/>
        </p:nvSpPr>
        <p:spPr>
          <a:xfrm>
            <a:off x="108281" y="5322669"/>
            <a:ext cx="9088985" cy="5407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40AAAEE-B1DB-416B-0FC8-68D6B9F13120}"/>
              </a:ext>
            </a:extLst>
          </p:cNvPr>
          <p:cNvSpPr txBox="1"/>
          <p:nvPr/>
        </p:nvSpPr>
        <p:spPr>
          <a:xfrm>
            <a:off x="1808745" y="4567989"/>
            <a:ext cx="1275347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Especies que salen de su área pero hay medidas de contención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B396C09-0A83-A0A2-8525-CA308C5B613C}"/>
              </a:ext>
            </a:extLst>
          </p:cNvPr>
          <p:cNvSpPr txBox="1"/>
          <p:nvPr/>
        </p:nvSpPr>
        <p:spPr>
          <a:xfrm>
            <a:off x="3866625" y="1749194"/>
            <a:ext cx="1632556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Hay reproducción, pero la población no es sostenible</a:t>
            </a:r>
          </a:p>
        </p:txBody>
      </p:sp>
      <p:sp>
        <p:nvSpPr>
          <p:cNvPr id="4" name="AutoShape 4" descr="Factsheet - Acacia spondylophylla">
            <a:extLst>
              <a:ext uri="{FF2B5EF4-FFF2-40B4-BE49-F238E27FC236}">
                <a16:creationId xmlns:a16="http://schemas.microsoft.com/office/drawing/2014/main" id="{6F4E329D-D213-8BD3-4759-FA5E3376C4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74698" y="316137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B3EA5B12-BFED-F2F4-1E23-927C59EABA1F}"/>
              </a:ext>
            </a:extLst>
          </p:cNvPr>
          <p:cNvGrpSpPr/>
          <p:nvPr/>
        </p:nvGrpSpPr>
        <p:grpSpPr>
          <a:xfrm>
            <a:off x="106441" y="1160475"/>
            <a:ext cx="5378832" cy="3162808"/>
            <a:chOff x="8954268" y="1393682"/>
            <a:chExt cx="5378832" cy="3162808"/>
          </a:xfrm>
        </p:grpSpPr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1B976E61-0145-DF4F-FCB3-5EF312124DC0}"/>
                </a:ext>
              </a:extLst>
            </p:cNvPr>
            <p:cNvSpPr/>
            <p:nvPr/>
          </p:nvSpPr>
          <p:spPr>
            <a:xfrm>
              <a:off x="8954268" y="1393682"/>
              <a:ext cx="5378832" cy="316280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EFA4AA07-FF35-F0F7-A1C9-37C856FB7358}"/>
                </a:ext>
              </a:extLst>
            </p:cNvPr>
            <p:cNvGrpSpPr/>
            <p:nvPr/>
          </p:nvGrpSpPr>
          <p:grpSpPr>
            <a:xfrm>
              <a:off x="9197919" y="1619565"/>
              <a:ext cx="4847195" cy="2678440"/>
              <a:chOff x="1428457" y="389462"/>
              <a:chExt cx="4847195" cy="2678440"/>
            </a:xfrm>
          </p:grpSpPr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783048B1-AFEC-2957-65A9-090E586A8580}"/>
                  </a:ext>
                </a:extLst>
              </p:cNvPr>
              <p:cNvSpPr txBox="1"/>
              <p:nvPr/>
            </p:nvSpPr>
            <p:spPr>
              <a:xfrm>
                <a:off x="2695237" y="389462"/>
                <a:ext cx="262859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b="1" i="1" dirty="0"/>
                  <a:t>Acacia </a:t>
                </a:r>
                <a:r>
                  <a:rPr lang="es-ES" b="1" i="1" dirty="0" err="1"/>
                  <a:t>spondylophylla</a:t>
                </a:r>
                <a:endParaRPr lang="es-ES" dirty="0"/>
              </a:p>
            </p:txBody>
          </p:sp>
          <p:pic>
            <p:nvPicPr>
              <p:cNvPr id="1026" name="Picture 2" descr="Factsheet - Acacia spondylophylla">
                <a:extLst>
                  <a:ext uri="{FF2B5EF4-FFF2-40B4-BE49-F238E27FC236}">
                    <a16:creationId xmlns:a16="http://schemas.microsoft.com/office/drawing/2014/main" id="{AD3A276F-AF29-0595-7EEE-555A18B2E1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28457" y="867768"/>
                <a:ext cx="3302658" cy="21870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 descr="Factsheet - Acacia spondylophylla">
                <a:extLst>
                  <a:ext uri="{FF2B5EF4-FFF2-40B4-BE49-F238E27FC236}">
                    <a16:creationId xmlns:a16="http://schemas.microsoft.com/office/drawing/2014/main" id="{11953449-2B29-834C-089D-729ADE8EFC7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99380" y="889403"/>
                <a:ext cx="1476272" cy="217849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5" name="Grupo 34">
            <a:extLst>
              <a:ext uri="{FF2B5EF4-FFF2-40B4-BE49-F238E27FC236}">
                <a16:creationId xmlns:a16="http://schemas.microsoft.com/office/drawing/2014/main" id="{DB645991-A93B-FF5C-8415-4C1AB77AB8CA}"/>
              </a:ext>
            </a:extLst>
          </p:cNvPr>
          <p:cNvGrpSpPr/>
          <p:nvPr/>
        </p:nvGrpSpPr>
        <p:grpSpPr>
          <a:xfrm>
            <a:off x="763270" y="1969352"/>
            <a:ext cx="3273041" cy="2534702"/>
            <a:chOff x="3206137" y="269449"/>
            <a:chExt cx="3273041" cy="2534702"/>
          </a:xfrm>
        </p:grpSpPr>
        <p:sp>
          <p:nvSpPr>
            <p:cNvPr id="34" name="Rectángulo 33">
              <a:extLst>
                <a:ext uri="{FF2B5EF4-FFF2-40B4-BE49-F238E27FC236}">
                  <a16:creationId xmlns:a16="http://schemas.microsoft.com/office/drawing/2014/main" id="{86C37218-266A-F9E0-A493-6B278E17B775}"/>
                </a:ext>
              </a:extLst>
            </p:cNvPr>
            <p:cNvSpPr/>
            <p:nvPr/>
          </p:nvSpPr>
          <p:spPr>
            <a:xfrm>
              <a:off x="3206137" y="269449"/>
              <a:ext cx="3273041" cy="253470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pic>
          <p:nvPicPr>
            <p:cNvPr id="15" name="Imagen 14" descr="Animal con la boca abierta&#10;&#10;Descripción generada automáticamente con confianza media">
              <a:extLst>
                <a:ext uri="{FF2B5EF4-FFF2-40B4-BE49-F238E27FC236}">
                  <a16:creationId xmlns:a16="http://schemas.microsoft.com/office/drawing/2014/main" id="{C7069F80-217D-30FE-E910-A9D87A959F7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423302" y="669803"/>
              <a:ext cx="2812959" cy="1926776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D5D4F767-6C7B-B373-61F1-2AA41A0C9D49}"/>
                </a:ext>
              </a:extLst>
            </p:cNvPr>
            <p:cNvSpPr txBox="1"/>
            <p:nvPr/>
          </p:nvSpPr>
          <p:spPr>
            <a:xfrm>
              <a:off x="3587841" y="320262"/>
              <a:ext cx="281295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800" b="1" i="1" dirty="0" err="1">
                  <a:solidFill>
                    <a:srgbClr val="050707"/>
                  </a:solidFill>
                  <a:effectLst/>
                  <a:latin typeface="Helvetica" pitchFamily="2" charset="0"/>
                </a:rPr>
                <a:t>Temnocerus</a:t>
              </a:r>
              <a:r>
                <a:rPr lang="es-ES" sz="1800" b="1" i="1" dirty="0">
                  <a:solidFill>
                    <a:srgbClr val="050707"/>
                  </a:solidFill>
                  <a:effectLst/>
                  <a:latin typeface="Helvetica" pitchFamily="2" charset="0"/>
                </a:rPr>
                <a:t> </a:t>
              </a:r>
              <a:r>
                <a:rPr lang="es-ES" sz="1800" b="1" i="1" dirty="0" err="1">
                  <a:solidFill>
                    <a:srgbClr val="050707"/>
                  </a:solidFill>
                  <a:effectLst/>
                  <a:latin typeface="Helvetica" pitchFamily="2" charset="0"/>
                </a:rPr>
                <a:t>debilis</a:t>
              </a:r>
              <a:r>
                <a:rPr lang="es-ES" sz="1800" b="1" i="1" dirty="0">
                  <a:solidFill>
                    <a:srgbClr val="050707"/>
                  </a:solidFill>
                  <a:effectLst/>
                  <a:latin typeface="Helvetica" pitchFamily="2" charset="0"/>
                </a:rPr>
                <a:t> </a:t>
              </a:r>
              <a:endParaRPr lang="es-ES" b="1" dirty="0">
                <a:effectLst/>
              </a:endParaRPr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B4D28EE2-ECFF-13BC-FF05-D931762D07E0}"/>
              </a:ext>
            </a:extLst>
          </p:cNvPr>
          <p:cNvGrpSpPr/>
          <p:nvPr/>
        </p:nvGrpSpPr>
        <p:grpSpPr>
          <a:xfrm>
            <a:off x="3789677" y="1726209"/>
            <a:ext cx="3449630" cy="3007686"/>
            <a:chOff x="1944690" y="397159"/>
            <a:chExt cx="3449630" cy="3007686"/>
          </a:xfrm>
        </p:grpSpPr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AE4BE964-2EA8-3288-5000-AAE121C326EB}"/>
                </a:ext>
              </a:extLst>
            </p:cNvPr>
            <p:cNvSpPr/>
            <p:nvPr/>
          </p:nvSpPr>
          <p:spPr>
            <a:xfrm>
              <a:off x="1944690" y="397159"/>
              <a:ext cx="3449630" cy="300768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pic>
          <p:nvPicPr>
            <p:cNvPr id="1032" name="Picture 8" descr="género Sibinia · iNaturalist Chile">
              <a:extLst>
                <a:ext uri="{FF2B5EF4-FFF2-40B4-BE49-F238E27FC236}">
                  <a16:creationId xmlns:a16="http://schemas.microsoft.com/office/drawing/2014/main" id="{BDF55DD6-5C87-1853-EA23-02D3C2E8C8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5250" y="934293"/>
              <a:ext cx="3175000" cy="2114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4B29D98D-8BB8-5A98-06B1-AF40FF5D4731}"/>
                </a:ext>
              </a:extLst>
            </p:cNvPr>
            <p:cNvSpPr txBox="1"/>
            <p:nvPr/>
          </p:nvSpPr>
          <p:spPr>
            <a:xfrm>
              <a:off x="2599003" y="579536"/>
              <a:ext cx="22756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b="1" i="1" dirty="0" err="1"/>
                <a:t>Sibinia</a:t>
              </a:r>
              <a:r>
                <a:rPr lang="es-ES" b="1" i="1" dirty="0"/>
                <a:t> </a:t>
              </a:r>
              <a:r>
                <a:rPr lang="es-ES" b="1" i="1" dirty="0" err="1"/>
                <a:t>fastigiata</a:t>
              </a:r>
              <a:endParaRPr lang="es-ES" b="1" i="1" dirty="0"/>
            </a:p>
          </p:txBody>
        </p: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7D741AFE-4C8C-8DA1-C586-D5E2EE089D17}"/>
              </a:ext>
            </a:extLst>
          </p:cNvPr>
          <p:cNvGrpSpPr/>
          <p:nvPr/>
        </p:nvGrpSpPr>
        <p:grpSpPr>
          <a:xfrm>
            <a:off x="5081638" y="298247"/>
            <a:ext cx="3508337" cy="3058783"/>
            <a:chOff x="2287807" y="181975"/>
            <a:chExt cx="3508337" cy="3058783"/>
          </a:xfrm>
        </p:grpSpPr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0CC6D62C-D97E-4FDF-0DEF-16B8314E9F81}"/>
                </a:ext>
              </a:extLst>
            </p:cNvPr>
            <p:cNvSpPr/>
            <p:nvPr/>
          </p:nvSpPr>
          <p:spPr>
            <a:xfrm>
              <a:off x="2287807" y="181975"/>
              <a:ext cx="3495479" cy="305878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pic>
          <p:nvPicPr>
            <p:cNvPr id="1036" name="Picture 12" descr="Periquito Común - eBird">
              <a:extLst>
                <a:ext uri="{FF2B5EF4-FFF2-40B4-BE49-F238E27FC236}">
                  <a16:creationId xmlns:a16="http://schemas.microsoft.com/office/drawing/2014/main" id="{2F7051F3-7DB4-C3E4-72DD-12BC7D6E0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5350" y="618436"/>
              <a:ext cx="3289300" cy="2463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7D8A4E2-9BCA-9172-32DE-7295C7749470}"/>
                </a:ext>
              </a:extLst>
            </p:cNvPr>
            <p:cNvSpPr txBox="1"/>
            <p:nvPr/>
          </p:nvSpPr>
          <p:spPr>
            <a:xfrm>
              <a:off x="2287807" y="222290"/>
              <a:ext cx="35083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b="1" i="1" dirty="0" err="1"/>
                <a:t>Melopsittacus</a:t>
              </a:r>
              <a:r>
                <a:rPr lang="es-ES" b="1" i="1" dirty="0"/>
                <a:t> </a:t>
              </a:r>
              <a:r>
                <a:rPr lang="es-ES" b="1" i="1" dirty="0" err="1"/>
                <a:t>undulatus</a:t>
              </a:r>
              <a:r>
                <a:rPr lang="es-ES" b="1" i="1" dirty="0"/>
                <a:t> (UK)</a:t>
              </a:r>
            </a:p>
          </p:txBody>
        </p: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0D7C8A34-B968-7208-509E-BFCC7E16662A}"/>
              </a:ext>
            </a:extLst>
          </p:cNvPr>
          <p:cNvGrpSpPr/>
          <p:nvPr/>
        </p:nvGrpSpPr>
        <p:grpSpPr>
          <a:xfrm>
            <a:off x="5169935" y="133178"/>
            <a:ext cx="3741312" cy="3058783"/>
            <a:chOff x="2171432" y="181975"/>
            <a:chExt cx="3741312" cy="3058783"/>
          </a:xfrm>
        </p:grpSpPr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DC86C9D5-D5AA-53F8-4ACB-B048481B60FA}"/>
                </a:ext>
              </a:extLst>
            </p:cNvPr>
            <p:cNvSpPr/>
            <p:nvPr/>
          </p:nvSpPr>
          <p:spPr>
            <a:xfrm>
              <a:off x="2204682" y="181975"/>
              <a:ext cx="3624937" cy="305878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pic>
          <p:nvPicPr>
            <p:cNvPr id="46" name="Picture 12" descr="Periquito Común - eBird">
              <a:extLst>
                <a:ext uri="{FF2B5EF4-FFF2-40B4-BE49-F238E27FC236}">
                  <a16:creationId xmlns:a16="http://schemas.microsoft.com/office/drawing/2014/main" id="{F0F37ABD-B394-121C-82E6-D4E26335F0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5350" y="618436"/>
              <a:ext cx="3289300" cy="2463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628B18A5-4A97-3073-E180-DE9C736C5CC8}"/>
                </a:ext>
              </a:extLst>
            </p:cNvPr>
            <p:cNvSpPr txBox="1"/>
            <p:nvPr/>
          </p:nvSpPr>
          <p:spPr>
            <a:xfrm>
              <a:off x="2171432" y="222290"/>
              <a:ext cx="374131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b="1" i="1" dirty="0" err="1"/>
                <a:t>Melopsittacus</a:t>
              </a:r>
              <a:r>
                <a:rPr lang="es-ES" b="1" i="1" dirty="0"/>
                <a:t> </a:t>
              </a:r>
              <a:r>
                <a:rPr lang="es-ES" b="1" i="1" dirty="0" err="1"/>
                <a:t>undulatus</a:t>
              </a:r>
              <a:r>
                <a:rPr lang="es-ES" b="1" i="1" dirty="0"/>
                <a:t> (Florida)</a:t>
              </a:r>
            </a:p>
          </p:txBody>
        </p:sp>
      </p:grpSp>
      <p:grpSp>
        <p:nvGrpSpPr>
          <p:cNvPr id="50" name="Grupo 49">
            <a:extLst>
              <a:ext uri="{FF2B5EF4-FFF2-40B4-BE49-F238E27FC236}">
                <a16:creationId xmlns:a16="http://schemas.microsoft.com/office/drawing/2014/main" id="{F1E39D7D-6C09-B162-94C9-2B0D896F8445}"/>
              </a:ext>
            </a:extLst>
          </p:cNvPr>
          <p:cNvGrpSpPr/>
          <p:nvPr/>
        </p:nvGrpSpPr>
        <p:grpSpPr>
          <a:xfrm>
            <a:off x="3567080" y="2211870"/>
            <a:ext cx="3510512" cy="3810184"/>
            <a:chOff x="857429" y="-532292"/>
            <a:chExt cx="3510512" cy="3810184"/>
          </a:xfrm>
        </p:grpSpPr>
        <p:sp>
          <p:nvSpPr>
            <p:cNvPr id="49" name="Rectángulo 48">
              <a:extLst>
                <a:ext uri="{FF2B5EF4-FFF2-40B4-BE49-F238E27FC236}">
                  <a16:creationId xmlns:a16="http://schemas.microsoft.com/office/drawing/2014/main" id="{15373E93-D1DF-22C1-32BB-EEA87B8E610E}"/>
                </a:ext>
              </a:extLst>
            </p:cNvPr>
            <p:cNvSpPr/>
            <p:nvPr/>
          </p:nvSpPr>
          <p:spPr>
            <a:xfrm>
              <a:off x="857429" y="-532292"/>
              <a:ext cx="3510512" cy="381018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pic>
          <p:nvPicPr>
            <p:cNvPr id="1038" name="Picture 14" descr="Detailed View of Caulerpa Taxifolia Seaweed Exploring Marine Biodiversity  Stock Photo - Image of marine, caulerpaceae: 404554214">
              <a:extLst>
                <a:ext uri="{FF2B5EF4-FFF2-40B4-BE49-F238E27FC236}">
                  <a16:creationId xmlns:a16="http://schemas.microsoft.com/office/drawing/2014/main" id="{469FE691-A735-D7FF-C211-807A5F6E8F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094" y="-71389"/>
              <a:ext cx="3184786" cy="31847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6E34E4A-1357-3694-D2FA-88C84C034831}"/>
                </a:ext>
              </a:extLst>
            </p:cNvPr>
            <p:cNvSpPr txBox="1"/>
            <p:nvPr/>
          </p:nvSpPr>
          <p:spPr>
            <a:xfrm>
              <a:off x="1562793" y="-448887"/>
              <a:ext cx="20540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i="1" dirty="0" err="1"/>
                <a:t>Caulerpa</a:t>
              </a:r>
              <a:r>
                <a:rPr lang="es-ES" b="1" i="1" dirty="0"/>
                <a:t> </a:t>
              </a:r>
              <a:r>
                <a:rPr lang="es-ES" b="1" i="1" dirty="0" err="1"/>
                <a:t>taxifolia</a:t>
              </a:r>
              <a:endParaRPr lang="es-E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233270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3" grpId="0" animBg="1"/>
      <p:bldP spid="1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8" grpId="0"/>
      <p:bldP spid="29" grpId="0"/>
      <p:bldP spid="30" grpId="0"/>
      <p:bldP spid="31" grpId="0"/>
      <p:bldP spid="32" grpId="0"/>
      <p:bldP spid="33" grpId="0" animBg="1"/>
      <p:bldP spid="12" grpId="0" animBg="1"/>
      <p:bldP spid="12" grpId="1" animBg="1"/>
      <p:bldP spid="23" grpId="0" animBg="1"/>
      <p:bldP spid="23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Diagrama&#10;&#10;Descripción generada automáticamente">
            <a:extLst>
              <a:ext uri="{FF2B5EF4-FFF2-40B4-BE49-F238E27FC236}">
                <a16:creationId xmlns:a16="http://schemas.microsoft.com/office/drawing/2014/main" id="{60917607-DCD9-D936-B5C2-E60B57B42D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50" t="4794" b="1629"/>
          <a:stretch/>
        </p:blipFill>
        <p:spPr>
          <a:xfrm>
            <a:off x="902368" y="69750"/>
            <a:ext cx="8337884" cy="67185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2C4804A-460E-4EB6-AC3F-148C480531B2}"/>
              </a:ext>
            </a:extLst>
          </p:cNvPr>
          <p:cNvSpPr txBox="1"/>
          <p:nvPr/>
        </p:nvSpPr>
        <p:spPr>
          <a:xfrm>
            <a:off x="0" y="6560434"/>
            <a:ext cx="28153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>
                <a:hlinkClick r:id="rId3"/>
              </a:rPr>
              <a:t>https://</a:t>
            </a:r>
            <a:r>
              <a:rPr lang="es-ES" sz="1200" dirty="0" err="1">
                <a:hlinkClick r:id="rId3"/>
              </a:rPr>
              <a:t>t.co</a:t>
            </a:r>
            <a:r>
              <a:rPr lang="es-ES" sz="1200" dirty="0">
                <a:hlinkClick r:id="rId3"/>
              </a:rPr>
              <a:t>/LKN4yh04Qh</a:t>
            </a: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2461063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F1147E-3C0E-6C4F-B035-1D318CE1170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127000"/>
            <a:ext cx="10112375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60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A1205C-5975-BE47-BA68-822D0892192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-1" y="127000"/>
            <a:ext cx="9924496" cy="6481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210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A20A1A-A35A-4746-BFA2-32058D141FA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127000"/>
            <a:ext cx="9946599" cy="649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351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1216</TotalTime>
  <Words>112</Words>
  <Application>Microsoft Macintosh PowerPoint</Application>
  <PresentationFormat>A4 (210 x 297 mm)</PresentationFormat>
  <Paragraphs>21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Helvetica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Javier Bonet García</dc:creator>
  <cp:lastModifiedBy>Francisco Javier Bonet García</cp:lastModifiedBy>
  <cp:revision>8</cp:revision>
  <dcterms:created xsi:type="dcterms:W3CDTF">2025-01-20T16:25:48Z</dcterms:created>
  <dcterms:modified xsi:type="dcterms:W3CDTF">2026-01-20T07:00:08Z</dcterms:modified>
</cp:coreProperties>
</file>